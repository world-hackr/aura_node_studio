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77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F3CE8-9831-D893-BBA0-668702D76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A0964-281E-E0B6-D879-05F30172C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1CA5F-D77F-4123-05EE-84779202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5707-18DA-447C-9485-14E2B6E5DEF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97D31-8B78-76D9-BF74-8158B740F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BE868-2D06-A428-630D-CFA6B50D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AD5C-5DFD-4384-9D91-8D2C8DDA2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061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9126-CFF6-D009-812A-B7C9C1CA6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8190B-8297-24BA-8442-14161C3D7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907A9-CCE7-647F-F48D-BBF9FBC24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5707-18DA-447C-9485-14E2B6E5DEF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2B046-443D-2105-763A-DA9D318F7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0E8A7-AD7C-0A97-2F62-30B0A3798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AD5C-5DFD-4384-9D91-8D2C8DDA2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006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5F4C5-01EA-4889-2E7B-A43EF5A47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7E142-90FC-49AB-3C36-CF5FD8550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C76D9-1CD4-392A-EBE2-5E2D0460C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5707-18DA-447C-9485-14E2B6E5DEF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93170-51CD-5A86-DF27-D53FF6DD6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3ADB3-F414-ECBB-DE4F-1C9E952F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AD5C-5DFD-4384-9D91-8D2C8DDA2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439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28B4-655A-6B88-5F38-544253769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01A8E-75A6-2082-F73E-F99DEBAE4D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F4DB3-9EEE-C5FD-C1A1-A4DBD4166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A787A-B975-BE29-952A-DC5B64079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5707-18DA-447C-9485-14E2B6E5DEF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ED546-9C2E-AB84-BBA4-14E3F909B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73F4B-C8AC-C298-28D0-CADD3ACFE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AD5C-5DFD-4384-9D91-8D2C8DDA2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202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595E2-2303-5E1A-E2F5-AE507E9FC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1A09F-5EDC-AEBF-3480-E7DC939BA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2E7BD-9D4B-19DA-689E-835024911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7C3E20-ED65-2C40-8C51-13BBC82937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9125D8-A84D-81EE-FBCC-2F2C48FF4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8ED066-2FEC-B607-1F98-2E193B2DA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5707-18DA-447C-9485-14E2B6E5DEF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947BB-68CD-D052-EE1E-72904CC3C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10533-C855-4DFD-CA83-915213AAD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AD5C-5DFD-4384-9D91-8D2C8DDA2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272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492F8-A8F1-3105-1227-43108E76F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1E7A98-B565-B4F8-D752-BC3E07619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5707-18DA-447C-9485-14E2B6E5DEF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B9A497-0B9C-94EF-2105-D60574720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35CA57-408C-BD1D-9E2B-1C7C86D9B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AD5C-5DFD-4384-9D91-8D2C8DDA2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668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65EDC9-17D6-A72E-8FFB-35DBC4A8D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5707-18DA-447C-9485-14E2B6E5DEF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882FBF-FCDA-AB4A-D1F1-3AC308A3D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0C9A8-E673-F703-14DE-259375ECB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AD5C-5DFD-4384-9D91-8D2C8DDA2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842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1B410-8C0E-5978-714F-E88477C9F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EBEDC-CEFE-CFD7-4C0E-42A2D02AF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A5FF1-50B3-0AA5-F5DC-D3A6BF312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6A8E5-E23B-F74C-2BEE-BB0D91E56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5707-18DA-447C-9485-14E2B6E5DEF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8F546-AC74-F543-CEA7-790AC4111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3D796-08AD-0673-A19E-13F297C36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AD5C-5DFD-4384-9D91-8D2C8DDA2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065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A3A15-42B8-8806-651E-043E3D824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C485D3-4E6C-B124-2254-6D037AC6A8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EE13A-BEDD-4632-154F-556BC07BC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A0869-9E15-172C-4A34-B7A59DE42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5707-18DA-447C-9485-14E2B6E5DEF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F7892-23F8-C7AB-5F2D-8D39AC836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F6E4A-BD08-B12E-CF01-E76A66AAC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AD5C-5DFD-4384-9D91-8D2C8DDA2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215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05C79-FCA7-742F-4513-B9E61F5C7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AA679-2801-3744-590B-4C2EBC9CB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803E9-0EA6-5724-575A-DF1591BB7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5707-18DA-447C-9485-14E2B6E5DEF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21207-CA74-ED35-3AB3-17EAF8BF7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70B8B-6BE2-A225-6A73-850145EAB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AD5C-5DFD-4384-9D91-8D2C8DDA2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095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DC3C46-3181-52D4-613B-7C454E8832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D6720D-AC02-3B7B-4AC1-4501A7DF8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60421-633E-FB15-4C4F-E07A26F9A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5707-18DA-447C-9485-14E2B6E5DEF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B37AE-342B-CDA5-2E4C-D1A7A1A7A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69F49-0DC6-CB97-6B67-AE3AD6E4F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AD5C-5DFD-4384-9D91-8D2C8DDA2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270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F62C0D-1AEA-4B9A-4AB7-D74BED400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F5627-A0FD-DD73-2A9F-7F94BA395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E8BDD-88E0-8E64-15DE-C09BD05D87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55707-18DA-447C-9485-14E2B6E5DEF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BA3C8-F757-D4E1-D10A-546E04F42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46798-E4FD-F26F-BB23-782FD91E11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1AD5C-5DFD-4384-9D91-8D2C8DDA2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23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051045-AFEF-93C5-5B68-D198CDCB0FE9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52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0B3535-D92B-E7EC-9E0F-6AF46C99D561}"/>
              </a:ext>
            </a:extLst>
          </p:cNvPr>
          <p:cNvSpPr txBox="1"/>
          <p:nvPr/>
        </p:nvSpPr>
        <p:spPr>
          <a:xfrm>
            <a:off x="660400" y="355600"/>
            <a:ext cx="5080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IN" sz="3800" b="1">
                <a:solidFill>
                  <a:srgbClr val="FFFFFF"/>
                </a:solidFill>
                <a:latin typeface="Georgia" panose="02040502050405020303" pitchFamily="18" charset="0"/>
              </a:rPr>
              <a:t>AURA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78ECA5-709E-95C6-386C-3B6E89DA6051}"/>
              </a:ext>
            </a:extLst>
          </p:cNvPr>
          <p:cNvSpPr txBox="1"/>
          <p:nvPr/>
        </p:nvSpPr>
        <p:spPr>
          <a:xfrm>
            <a:off x="685800" y="889000"/>
            <a:ext cx="5588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IN" b="1">
                <a:solidFill>
                  <a:srgbClr val="FFFFFF"/>
                </a:solidFill>
                <a:latin typeface="Aptos" panose="020B0004020202020204" pitchFamily="34" charset="0"/>
              </a:rPr>
              <a:t>Autonomous User Realization &amp; Assembly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6F10FB-ABCF-67FC-1ED6-0D7CD691C008}"/>
              </a:ext>
            </a:extLst>
          </p:cNvPr>
          <p:cNvSpPr txBox="1"/>
          <p:nvPr/>
        </p:nvSpPr>
        <p:spPr>
          <a:xfrm>
            <a:off x="711200" y="1625600"/>
            <a:ext cx="5334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2600" b="1">
                <a:solidFill>
                  <a:srgbClr val="222A34"/>
                </a:solidFill>
                <a:latin typeface="Georgia" panose="02040502050405020303" pitchFamily="18" charset="0"/>
              </a:rPr>
              <a:t>A cyber-physical platform for physical component localization, inventory-aware reasoning, and deterministic circuit composition.</a:t>
            </a:r>
            <a:endParaRPr lang="en-IN" sz="2600" b="1">
              <a:solidFill>
                <a:srgbClr val="222A34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F7A2B7-B63F-F0BC-D38A-8E7FCF83FE88}"/>
              </a:ext>
            </a:extLst>
          </p:cNvPr>
          <p:cNvSpPr txBox="1"/>
          <p:nvPr/>
        </p:nvSpPr>
        <p:spPr>
          <a:xfrm>
            <a:off x="736600" y="2794000"/>
            <a:ext cx="4953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>
                <a:solidFill>
                  <a:srgbClr val="222A34"/>
                </a:solidFill>
                <a:latin typeface="Aptos" panose="020B0004020202020204" pitchFamily="34" charset="0"/>
              </a:rPr>
              <a:t>Presented by Santosh Kumar</a:t>
            </a:r>
          </a:p>
          <a:p>
            <a:r>
              <a:rPr lang="en-US">
                <a:solidFill>
                  <a:srgbClr val="222A34"/>
                </a:solidFill>
                <a:latin typeface="Aptos" panose="020B0004020202020204" pitchFamily="34" charset="0"/>
              </a:rPr>
              <a:t>B.Tech, Computer Science and Engineering</a:t>
            </a:r>
          </a:p>
          <a:p>
            <a:r>
              <a:rPr lang="en-US">
                <a:solidFill>
                  <a:srgbClr val="222A34"/>
                </a:solidFill>
                <a:latin typeface="Aptos" panose="020B0004020202020204" pitchFamily="34" charset="0"/>
              </a:rPr>
              <a:t>HMR Institute of Technology and Management</a:t>
            </a:r>
            <a:endParaRPr lang="en-IN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FCF3A9-92FF-7646-DD20-B82DE3A6E981}"/>
              </a:ext>
            </a:extLst>
          </p:cNvPr>
          <p:cNvSpPr txBox="1"/>
          <p:nvPr/>
        </p:nvSpPr>
        <p:spPr>
          <a:xfrm>
            <a:off x="736600" y="4216400"/>
            <a:ext cx="5080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1500">
                <a:solidFill>
                  <a:srgbClr val="65707E"/>
                </a:solidFill>
                <a:latin typeface="Aptos" panose="020B0004020202020204" pitchFamily="34" charset="0"/>
              </a:rPr>
              <a:t>Supervisor: Ms. Indu Sharma</a:t>
            </a:r>
          </a:p>
          <a:p>
            <a:r>
              <a:rPr lang="en-US" sz="1500">
                <a:solidFill>
                  <a:srgbClr val="65707E"/>
                </a:solidFill>
                <a:latin typeface="Aptos" panose="020B0004020202020204" pitchFamily="34" charset="0"/>
              </a:rPr>
              <a:t>Coordinator: Dr. Naveen Sharma</a:t>
            </a:r>
            <a:endParaRPr lang="en-IN" sz="1500">
              <a:solidFill>
                <a:srgbClr val="65707E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414F80-6259-9A38-2730-E6D4E82B5C49}"/>
              </a:ext>
            </a:extLst>
          </p:cNvPr>
          <p:cNvSpPr/>
          <p:nvPr/>
        </p:nvSpPr>
        <p:spPr>
          <a:xfrm>
            <a:off x="736600" y="5156200"/>
            <a:ext cx="2032000" cy="355600"/>
          </a:xfrm>
          <a:prstGeom prst="roundRect">
            <a:avLst/>
          </a:prstGeom>
          <a:solidFill>
            <a:srgbClr val="2C706C"/>
          </a:solidFill>
          <a:ln w="0">
            <a:solidFill>
              <a:srgbClr val="2C70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08C076-D178-8B05-34BF-D8188B8EA926}"/>
              </a:ext>
            </a:extLst>
          </p:cNvPr>
          <p:cNvSpPr txBox="1"/>
          <p:nvPr/>
        </p:nvSpPr>
        <p:spPr>
          <a:xfrm>
            <a:off x="838200" y="5219700"/>
            <a:ext cx="1828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Prototype-level system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88398C5-22E8-F582-93E9-649EE237A258}"/>
              </a:ext>
            </a:extLst>
          </p:cNvPr>
          <p:cNvSpPr/>
          <p:nvPr/>
        </p:nvSpPr>
        <p:spPr>
          <a:xfrm>
            <a:off x="2895600" y="5156200"/>
            <a:ext cx="2082800" cy="355600"/>
          </a:xfrm>
          <a:prstGeom prst="roundRect">
            <a:avLst/>
          </a:prstGeom>
          <a:solidFill>
            <a:srgbClr val="D2A046"/>
          </a:solidFill>
          <a:ln w="0">
            <a:solidFill>
              <a:srgbClr val="D2A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0C94B0-CEC2-1EE8-3AA2-E6B497AC604E}"/>
              </a:ext>
            </a:extLst>
          </p:cNvPr>
          <p:cNvSpPr txBox="1"/>
          <p:nvPr/>
        </p:nvSpPr>
        <p:spPr>
          <a:xfrm>
            <a:off x="2997200" y="5219700"/>
            <a:ext cx="18796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300" b="1">
                <a:solidFill>
                  <a:srgbClr val="152B47"/>
                </a:solidFill>
                <a:latin typeface="Aptos" panose="020B0004020202020204" pitchFamily="34" charset="0"/>
              </a:rPr>
              <a:t>Inventory aware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DA0689F-6C0B-87E8-08E8-CBA9E2ED5333}"/>
              </a:ext>
            </a:extLst>
          </p:cNvPr>
          <p:cNvSpPr/>
          <p:nvPr/>
        </p:nvSpPr>
        <p:spPr>
          <a:xfrm>
            <a:off x="6629400" y="1574800"/>
            <a:ext cx="4724400" cy="3048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8BB10E-E926-BC49-C955-7A71DF27E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007" y="2476029"/>
            <a:ext cx="1505186" cy="9407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5F68D8-ECA9-9080-BE0B-C18474FD3B7F}"/>
              </a:ext>
            </a:extLst>
          </p:cNvPr>
          <p:cNvSpPr txBox="1"/>
          <p:nvPr/>
        </p:nvSpPr>
        <p:spPr>
          <a:xfrm>
            <a:off x="6756400" y="4343400"/>
            <a:ext cx="44704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000">
                <a:solidFill>
                  <a:srgbClr val="65707E"/>
                </a:solidFill>
                <a:latin typeface="Aptos" panose="020B0004020202020204" pitchFamily="34" charset="0"/>
              </a:rPr>
              <a:t>Current AURA workspace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0B94BB4-363D-8D49-E51A-4D967D12A2A2}"/>
              </a:ext>
            </a:extLst>
          </p:cNvPr>
          <p:cNvSpPr/>
          <p:nvPr/>
        </p:nvSpPr>
        <p:spPr>
          <a:xfrm>
            <a:off x="6629400" y="4902200"/>
            <a:ext cx="281940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79E0309-EFAF-1EC6-4508-02EBD13661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586" y="5381225"/>
            <a:ext cx="149028" cy="1087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2E87D27-6C50-1767-9B44-4F475151B4A8}"/>
              </a:ext>
            </a:extLst>
          </p:cNvPr>
          <p:cNvSpPr txBox="1"/>
          <p:nvPr/>
        </p:nvSpPr>
        <p:spPr>
          <a:xfrm>
            <a:off x="6756400" y="5994400"/>
            <a:ext cx="25654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000">
                <a:solidFill>
                  <a:srgbClr val="65707E"/>
                </a:solidFill>
                <a:latin typeface="Aptos" panose="020B0004020202020204" pitchFamily="34" charset="0"/>
              </a:rPr>
              <a:t>Host prototype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DB25CA0-39DD-F8F4-1BD0-434DE270889A}"/>
              </a:ext>
            </a:extLst>
          </p:cNvPr>
          <p:cNvSpPr/>
          <p:nvPr/>
        </p:nvSpPr>
        <p:spPr>
          <a:xfrm>
            <a:off x="9652000" y="4902200"/>
            <a:ext cx="170180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517CBA3-70B1-5CA6-2C34-2AC02616EA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560" y="5329555"/>
            <a:ext cx="154680" cy="21209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192DA21-DC2E-A1FF-5EC6-4BFB2756B88A}"/>
              </a:ext>
            </a:extLst>
          </p:cNvPr>
          <p:cNvSpPr txBox="1"/>
          <p:nvPr/>
        </p:nvSpPr>
        <p:spPr>
          <a:xfrm>
            <a:off x="9779000" y="5994400"/>
            <a:ext cx="1447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000">
                <a:solidFill>
                  <a:srgbClr val="65707E"/>
                </a:solidFill>
                <a:latin typeface="Aptos" panose="020B0004020202020204" pitchFamily="34" charset="0"/>
              </a:rPr>
              <a:t>Node prototype</a:t>
            </a:r>
          </a:p>
        </p:txBody>
      </p:sp>
    </p:spTree>
    <p:extLst>
      <p:ext uri="{BB962C8B-B14F-4D97-AF65-F5344CB8AC3E}">
        <p14:creationId xmlns:p14="http://schemas.microsoft.com/office/powerpoint/2010/main" val="3688768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1E072F-EB23-30EF-349A-3A941B8EF725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52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AFD61D-A160-00D5-D77A-204814ACFF07}"/>
              </a:ext>
            </a:extLst>
          </p:cNvPr>
          <p:cNvSpPr txBox="1"/>
          <p:nvPr/>
        </p:nvSpPr>
        <p:spPr>
          <a:xfrm>
            <a:off x="609600" y="228600"/>
            <a:ext cx="7620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Georgia" panose="02040502050405020303" pitchFamily="18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C6F145-FD38-1789-9276-513C0CF5DE1F}"/>
              </a:ext>
            </a:extLst>
          </p:cNvPr>
          <p:cNvSpPr txBox="1"/>
          <p:nvPr/>
        </p:nvSpPr>
        <p:spPr>
          <a:xfrm>
            <a:off x="609600" y="1041400"/>
            <a:ext cx="9652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sz="1600">
                <a:solidFill>
                  <a:srgbClr val="65707E"/>
                </a:solidFill>
                <a:latin typeface="Aptos" panose="020B0004020202020204" pitchFamily="34" charset="0"/>
              </a:rPr>
              <a:t>Why existing workflows are still inefficient for students, makers, and small labs.</a:t>
            </a:r>
            <a:endParaRPr lang="en-IN" sz="1600">
              <a:solidFill>
                <a:srgbClr val="65707E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DAF331-DE83-7D80-CA0A-69E53ECAE2A2}"/>
              </a:ext>
            </a:extLst>
          </p:cNvPr>
          <p:cNvSpPr/>
          <p:nvPr/>
        </p:nvSpPr>
        <p:spPr>
          <a:xfrm>
            <a:off x="11201400" y="254000"/>
            <a:ext cx="558800" cy="304800"/>
          </a:xfrm>
          <a:prstGeom prst="roundRect">
            <a:avLst/>
          </a:prstGeom>
          <a:solidFill>
            <a:srgbClr val="D2A046"/>
          </a:solidFill>
          <a:ln w="0">
            <a:solidFill>
              <a:srgbClr val="D2A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D4BD2A-BECB-BF49-AA50-5B71814BAADD}"/>
              </a:ext>
            </a:extLst>
          </p:cNvPr>
          <p:cNvSpPr txBox="1"/>
          <p:nvPr/>
        </p:nvSpPr>
        <p:spPr>
          <a:xfrm>
            <a:off x="11303000" y="317500"/>
            <a:ext cx="3556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300" b="1">
                <a:solidFill>
                  <a:srgbClr val="152B47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339D8B-3D91-C951-F42D-EC7A9952BA41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EAEF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9350B0-015D-EBAC-2647-F91E68603D17}"/>
              </a:ext>
            </a:extLst>
          </p:cNvPr>
          <p:cNvSpPr txBox="1"/>
          <p:nvPr/>
        </p:nvSpPr>
        <p:spPr>
          <a:xfrm>
            <a:off x="609600" y="6654800"/>
            <a:ext cx="5334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IN" sz="900">
                <a:solidFill>
                  <a:srgbClr val="65707E"/>
                </a:solidFill>
                <a:latin typeface="Aptos" panose="020B0004020202020204" pitchFamily="34" charset="0"/>
              </a:rPr>
              <a:t>AURA | Autonomous User Realization &amp; Assembly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D8E018-C3D7-27DC-DEE7-8331E1094411}"/>
              </a:ext>
            </a:extLst>
          </p:cNvPr>
          <p:cNvSpPr/>
          <p:nvPr/>
        </p:nvSpPr>
        <p:spPr>
          <a:xfrm>
            <a:off x="685800" y="1600200"/>
            <a:ext cx="3327400" cy="1625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5B0DB9-43E4-C148-6EF9-955CF81BF529}"/>
              </a:ext>
            </a:extLst>
          </p:cNvPr>
          <p:cNvSpPr txBox="1"/>
          <p:nvPr/>
        </p:nvSpPr>
        <p:spPr>
          <a:xfrm>
            <a:off x="914400" y="1803400"/>
            <a:ext cx="2870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IN" b="1">
                <a:solidFill>
                  <a:srgbClr val="222A34"/>
                </a:solidFill>
                <a:latin typeface="Georgia" panose="02040502050405020303" pitchFamily="18" charset="0"/>
              </a:rPr>
              <a:t>Finding parts is slow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FBC23F-1BF5-6F03-D08F-6AF8FFED5BAF}"/>
              </a:ext>
            </a:extLst>
          </p:cNvPr>
          <p:cNvSpPr txBox="1"/>
          <p:nvPr/>
        </p:nvSpPr>
        <p:spPr>
          <a:xfrm>
            <a:off x="914400" y="2260600"/>
            <a:ext cx="2870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1400">
                <a:solidFill>
                  <a:srgbClr val="222A34"/>
                </a:solidFill>
                <a:latin typeface="Aptos" panose="020B0004020202020204" pitchFamily="34" charset="0"/>
              </a:rPr>
              <a:t>Component storage is often distributed across drawers, boxes, and shelves, so users spend time searching instead of building.</a:t>
            </a:r>
            <a:endParaRPr lang="en-IN" sz="14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E5B0B34-44E3-646A-C2AC-487BDE9392F2}"/>
              </a:ext>
            </a:extLst>
          </p:cNvPr>
          <p:cNvSpPr/>
          <p:nvPr/>
        </p:nvSpPr>
        <p:spPr>
          <a:xfrm>
            <a:off x="4419600" y="1600200"/>
            <a:ext cx="3327400" cy="1625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30DC71-6EB5-A777-7E93-ACE29D3D6499}"/>
              </a:ext>
            </a:extLst>
          </p:cNvPr>
          <p:cNvSpPr txBox="1"/>
          <p:nvPr/>
        </p:nvSpPr>
        <p:spPr>
          <a:xfrm>
            <a:off x="4648200" y="1803400"/>
            <a:ext cx="2870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IN" b="1">
                <a:solidFill>
                  <a:srgbClr val="222A34"/>
                </a:solidFill>
                <a:latin typeface="Georgia" panose="02040502050405020303" pitchFamily="18" charset="0"/>
              </a:rPr>
              <a:t>Inventory is uncertain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5150E3-5BE9-163D-65FD-3843BA7A00EB}"/>
              </a:ext>
            </a:extLst>
          </p:cNvPr>
          <p:cNvSpPr txBox="1"/>
          <p:nvPr/>
        </p:nvSpPr>
        <p:spPr>
          <a:xfrm>
            <a:off x="4648200" y="2260600"/>
            <a:ext cx="2870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1400">
                <a:solidFill>
                  <a:srgbClr val="222A34"/>
                </a:solidFill>
                <a:latin typeface="Aptos" panose="020B0004020202020204" pitchFamily="34" charset="0"/>
              </a:rPr>
              <a:t>Users may know a resistor box exists, but not whether the exact value and quantity are sufficient for the project.</a:t>
            </a:r>
            <a:endParaRPr lang="en-IN" sz="14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B580C6A-BFEB-0CD8-B28C-8C58F5DF21BB}"/>
              </a:ext>
            </a:extLst>
          </p:cNvPr>
          <p:cNvSpPr/>
          <p:nvPr/>
        </p:nvSpPr>
        <p:spPr>
          <a:xfrm>
            <a:off x="8153400" y="1600200"/>
            <a:ext cx="3327400" cy="1625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413E4C-FC68-C977-2191-EE93249535E4}"/>
              </a:ext>
            </a:extLst>
          </p:cNvPr>
          <p:cNvSpPr txBox="1"/>
          <p:nvPr/>
        </p:nvSpPr>
        <p:spPr>
          <a:xfrm>
            <a:off x="8382000" y="1803400"/>
            <a:ext cx="2870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 fontScale="85000" lnSpcReduction="10000"/>
          </a:bodyPr>
          <a:lstStyle/>
          <a:p>
            <a:r>
              <a:rPr lang="en-IN" b="1">
                <a:solidFill>
                  <a:srgbClr val="222A34"/>
                </a:solidFill>
                <a:latin typeface="Georgia" panose="02040502050405020303" pitchFamily="18" charset="0"/>
              </a:rPr>
              <a:t>Digital tools ignore reality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F4FEB-6811-F47F-FDCC-D2CB61725B99}"/>
              </a:ext>
            </a:extLst>
          </p:cNvPr>
          <p:cNvSpPr txBox="1"/>
          <p:nvPr/>
        </p:nvSpPr>
        <p:spPr>
          <a:xfrm>
            <a:off x="8382000" y="2260600"/>
            <a:ext cx="2870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1400">
                <a:solidFill>
                  <a:srgbClr val="222A34"/>
                </a:solidFill>
                <a:latin typeface="Aptos" panose="020B0004020202020204" pitchFamily="34" charset="0"/>
              </a:rPr>
              <a:t>Typical circuit tools help create virtual designs without considering what the user physically owns at that moment.</a:t>
            </a:r>
            <a:endParaRPr lang="en-IN" sz="14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73FDFBB-EC13-861E-8520-46FBAFF237D6}"/>
              </a:ext>
            </a:extLst>
          </p:cNvPr>
          <p:cNvSpPr/>
          <p:nvPr/>
        </p:nvSpPr>
        <p:spPr>
          <a:xfrm>
            <a:off x="685800" y="3606800"/>
            <a:ext cx="3327400" cy="1625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871897-C616-6238-1EC0-E14DD5EF22A3}"/>
              </a:ext>
            </a:extLst>
          </p:cNvPr>
          <p:cNvSpPr txBox="1"/>
          <p:nvPr/>
        </p:nvSpPr>
        <p:spPr>
          <a:xfrm>
            <a:off x="914400" y="3810000"/>
            <a:ext cx="2870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IN" b="1">
                <a:solidFill>
                  <a:srgbClr val="222A34"/>
                </a:solidFill>
                <a:latin typeface="Georgia" panose="02040502050405020303" pitchFamily="18" charset="0"/>
              </a:rPr>
              <a:t>Retrieval is manual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724EDB-1048-213E-D2B3-BBEAB2A89CBD}"/>
              </a:ext>
            </a:extLst>
          </p:cNvPr>
          <p:cNvSpPr txBox="1"/>
          <p:nvPr/>
        </p:nvSpPr>
        <p:spPr>
          <a:xfrm>
            <a:off x="914400" y="4267200"/>
            <a:ext cx="2870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1400">
                <a:solidFill>
                  <a:srgbClr val="222A34"/>
                </a:solidFill>
                <a:latin typeface="Aptos" panose="020B0004020202020204" pitchFamily="34" charset="0"/>
              </a:rPr>
              <a:t>Even after choosing a design, the user still has to gather every required part through repeated trial-and-error searching.</a:t>
            </a:r>
            <a:endParaRPr lang="en-IN" sz="14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AC7C634-E8F8-2842-488C-A1F7BF235B4E}"/>
              </a:ext>
            </a:extLst>
          </p:cNvPr>
          <p:cNvSpPr/>
          <p:nvPr/>
        </p:nvSpPr>
        <p:spPr>
          <a:xfrm>
            <a:off x="4419600" y="3606800"/>
            <a:ext cx="3327400" cy="1625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CF748D-C2F2-511F-E54F-B9372EF5BE87}"/>
              </a:ext>
            </a:extLst>
          </p:cNvPr>
          <p:cNvSpPr txBox="1"/>
          <p:nvPr/>
        </p:nvSpPr>
        <p:spPr>
          <a:xfrm>
            <a:off x="4648200" y="3810000"/>
            <a:ext cx="2870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b="1">
                <a:solidFill>
                  <a:srgbClr val="222A34"/>
                </a:solidFill>
                <a:latin typeface="Georgia" panose="02040502050405020303" pitchFamily="18" charset="0"/>
              </a:rPr>
              <a:t>AI can be too loose</a:t>
            </a:r>
            <a:endParaRPr lang="en-IN" b="1">
              <a:solidFill>
                <a:srgbClr val="222A34"/>
              </a:solidFill>
              <a:latin typeface="Georgia" panose="02040502050405020303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858B4C-9325-7536-AAC4-1461F72238EC}"/>
              </a:ext>
            </a:extLst>
          </p:cNvPr>
          <p:cNvSpPr txBox="1"/>
          <p:nvPr/>
        </p:nvSpPr>
        <p:spPr>
          <a:xfrm>
            <a:off x="4648200" y="4267200"/>
            <a:ext cx="2870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1400">
                <a:solidFill>
                  <a:srgbClr val="222A34"/>
                </a:solidFill>
                <a:latin typeface="Aptos" panose="020B0004020202020204" pitchFamily="34" charset="0"/>
              </a:rPr>
              <a:t>Unconstrained suggestions may sound useful, but they remain hard to audit if they are not grounded in structured deterministic data.</a:t>
            </a:r>
            <a:endParaRPr lang="en-IN" sz="14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9DB37A2-5C59-4CE0-8E40-DFFC848EDA34}"/>
              </a:ext>
            </a:extLst>
          </p:cNvPr>
          <p:cNvSpPr/>
          <p:nvPr/>
        </p:nvSpPr>
        <p:spPr>
          <a:xfrm>
            <a:off x="8153400" y="3606800"/>
            <a:ext cx="3327400" cy="1625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886F6E-B319-E2CD-EA63-2CCD243EC97E}"/>
              </a:ext>
            </a:extLst>
          </p:cNvPr>
          <p:cNvSpPr txBox="1"/>
          <p:nvPr/>
        </p:nvSpPr>
        <p:spPr>
          <a:xfrm>
            <a:off x="8382000" y="3810000"/>
            <a:ext cx="2870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IN" b="1">
                <a:solidFill>
                  <a:srgbClr val="222A34"/>
                </a:solidFill>
                <a:latin typeface="Georgia" panose="02040502050405020303" pitchFamily="18" charset="0"/>
              </a:rPr>
              <a:t>Learning suffers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C85393-51DC-62D2-0505-C612C67B0AF4}"/>
              </a:ext>
            </a:extLst>
          </p:cNvPr>
          <p:cNvSpPr txBox="1"/>
          <p:nvPr/>
        </p:nvSpPr>
        <p:spPr>
          <a:xfrm>
            <a:off x="8382000" y="4267200"/>
            <a:ext cx="2870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1400">
                <a:solidFill>
                  <a:srgbClr val="222A34"/>
                </a:solidFill>
                <a:latin typeface="Aptos" panose="020B0004020202020204" pitchFamily="34" charset="0"/>
              </a:rPr>
              <a:t>When retrieval, stock awareness, and design review are disconnected, students lose clarity about both the circuit and the build process.</a:t>
            </a:r>
            <a:endParaRPr lang="en-IN" sz="14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8F88E77-85F9-CD63-A00D-5E16A47DFBAE}"/>
              </a:ext>
            </a:extLst>
          </p:cNvPr>
          <p:cNvSpPr/>
          <p:nvPr/>
        </p:nvSpPr>
        <p:spPr>
          <a:xfrm>
            <a:off x="685800" y="5537200"/>
            <a:ext cx="10795000" cy="609600"/>
          </a:xfrm>
          <a:prstGeom prst="roundRect">
            <a:avLst/>
          </a:prstGeom>
          <a:solidFill>
            <a:srgbClr val="152B47"/>
          </a:solidFill>
          <a:ln w="0">
            <a:solidFill>
              <a:srgbClr val="152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A2398D-4202-0C08-197B-8AC7CA3DD537}"/>
              </a:ext>
            </a:extLst>
          </p:cNvPr>
          <p:cNvSpPr txBox="1"/>
          <p:nvPr/>
        </p:nvSpPr>
        <p:spPr>
          <a:xfrm>
            <a:off x="990600" y="5702300"/>
            <a:ext cx="10210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AURA addresses these as one integrated problem: search, stock awareness, deterministic planning, review, and physical retrieval.</a:t>
            </a:r>
            <a:endParaRPr lang="en-IN" sz="1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91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4E0237-1C1B-2D31-A768-FF7FAC4C1393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52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DB3C0-3CE8-1F61-262C-2765CAA92293}"/>
              </a:ext>
            </a:extLst>
          </p:cNvPr>
          <p:cNvSpPr txBox="1"/>
          <p:nvPr/>
        </p:nvSpPr>
        <p:spPr>
          <a:xfrm>
            <a:off x="609600" y="228600"/>
            <a:ext cx="7620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Georgia" panose="02040502050405020303" pitchFamily="18" charset="0"/>
              </a:rPr>
              <a:t>Project Vision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72EF60-B994-2879-6FBE-AC60D2599DB4}"/>
              </a:ext>
            </a:extLst>
          </p:cNvPr>
          <p:cNvSpPr txBox="1"/>
          <p:nvPr/>
        </p:nvSpPr>
        <p:spPr>
          <a:xfrm>
            <a:off x="609600" y="1041400"/>
            <a:ext cx="9652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sz="1600">
                <a:solidFill>
                  <a:srgbClr val="65707E"/>
                </a:solidFill>
                <a:latin typeface="Aptos" panose="020B0004020202020204" pitchFamily="34" charset="0"/>
              </a:rPr>
              <a:t>AURA combines physical intelligence and structured digital assistance in one platform.</a:t>
            </a:r>
            <a:endParaRPr lang="en-IN" sz="1600">
              <a:solidFill>
                <a:srgbClr val="65707E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3B7B4A3-CF29-5310-BEA8-35E7AF4065C9}"/>
              </a:ext>
            </a:extLst>
          </p:cNvPr>
          <p:cNvSpPr/>
          <p:nvPr/>
        </p:nvSpPr>
        <p:spPr>
          <a:xfrm>
            <a:off x="11201400" y="254000"/>
            <a:ext cx="558800" cy="304800"/>
          </a:xfrm>
          <a:prstGeom prst="roundRect">
            <a:avLst/>
          </a:prstGeom>
          <a:solidFill>
            <a:srgbClr val="D2A046"/>
          </a:solidFill>
          <a:ln w="0">
            <a:solidFill>
              <a:srgbClr val="D2A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1F29D3-56CF-4A36-01E1-F283827AD929}"/>
              </a:ext>
            </a:extLst>
          </p:cNvPr>
          <p:cNvSpPr txBox="1"/>
          <p:nvPr/>
        </p:nvSpPr>
        <p:spPr>
          <a:xfrm>
            <a:off x="11303000" y="317500"/>
            <a:ext cx="3556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300" b="1">
                <a:solidFill>
                  <a:srgbClr val="152B47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F3A1CC-6DDA-CCCB-F249-B96DA8238F85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EAEF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8998BA-F16D-008D-6E06-F0A5A28F908E}"/>
              </a:ext>
            </a:extLst>
          </p:cNvPr>
          <p:cNvSpPr txBox="1"/>
          <p:nvPr/>
        </p:nvSpPr>
        <p:spPr>
          <a:xfrm>
            <a:off x="609600" y="6654800"/>
            <a:ext cx="5334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IN" sz="900">
                <a:solidFill>
                  <a:srgbClr val="65707E"/>
                </a:solidFill>
                <a:latin typeface="Aptos" panose="020B0004020202020204" pitchFamily="34" charset="0"/>
              </a:rPr>
              <a:t>AURA | Autonomous User Realization &amp; Assembly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C5A234-9FC2-9FE2-3FCE-9C2CAABCEEEA}"/>
              </a:ext>
            </a:extLst>
          </p:cNvPr>
          <p:cNvSpPr/>
          <p:nvPr/>
        </p:nvSpPr>
        <p:spPr>
          <a:xfrm>
            <a:off x="711200" y="1574800"/>
            <a:ext cx="3403600" cy="3937000"/>
          </a:xfrm>
          <a:prstGeom prst="roundRect">
            <a:avLst/>
          </a:prstGeom>
          <a:solidFill>
            <a:srgbClr val="F5ECD6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C4B079-E832-206C-3E7D-C3B40D18457C}"/>
              </a:ext>
            </a:extLst>
          </p:cNvPr>
          <p:cNvSpPr txBox="1"/>
          <p:nvPr/>
        </p:nvSpPr>
        <p:spPr>
          <a:xfrm>
            <a:off x="1016000" y="1854200"/>
            <a:ext cx="2794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IN" sz="2000" b="1">
                <a:solidFill>
                  <a:srgbClr val="222A34"/>
                </a:solidFill>
                <a:latin typeface="Georgia" panose="02040502050405020303" pitchFamily="18" charset="0"/>
              </a:rPr>
              <a:t>Physical locator network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953478-A59F-676E-DE49-016051217ED4}"/>
              </a:ext>
            </a:extLst>
          </p:cNvPr>
          <p:cNvSpPr/>
          <p:nvPr/>
        </p:nvSpPr>
        <p:spPr>
          <a:xfrm>
            <a:off x="1066800" y="2362200"/>
            <a:ext cx="2692400" cy="1524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EC75CF2-1D28-67D5-0EA6-FD9A561F7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67" y="2896540"/>
            <a:ext cx="206267" cy="1505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4B4B9A6-43A8-D91A-AC97-168034A2BD00}"/>
              </a:ext>
            </a:extLst>
          </p:cNvPr>
          <p:cNvSpPr txBox="1"/>
          <p:nvPr/>
        </p:nvSpPr>
        <p:spPr>
          <a:xfrm>
            <a:off x="1193800" y="3606800"/>
            <a:ext cx="24384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000">
                <a:solidFill>
                  <a:srgbClr val="65707E"/>
                </a:solidFill>
                <a:latin typeface="Aptos" panose="020B0004020202020204" pitchFamily="34" charset="0"/>
              </a:rPr>
              <a:t>Host side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34D2B2-F0DC-8FA1-26D3-DF6F90236B21}"/>
              </a:ext>
            </a:extLst>
          </p:cNvPr>
          <p:cNvSpPr txBox="1"/>
          <p:nvPr/>
        </p:nvSpPr>
        <p:spPr>
          <a:xfrm>
            <a:off x="1066800" y="4064000"/>
            <a:ext cx="26924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US" sz="1400">
                <a:solidFill>
                  <a:srgbClr val="222A34"/>
                </a:solidFill>
                <a:latin typeface="Aptos" panose="020B0004020202020204" pitchFamily="34" charset="0"/>
              </a:rPr>
              <a:t>ESP32 host, distributed nodes, addressed communication, visual indication, and location-aware retrieval.</a:t>
            </a:r>
            <a:endParaRPr lang="en-IN" sz="14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819B9A6-D8C4-788E-0D97-477F6D2C457F}"/>
              </a:ext>
            </a:extLst>
          </p:cNvPr>
          <p:cNvSpPr/>
          <p:nvPr/>
        </p:nvSpPr>
        <p:spPr>
          <a:xfrm>
            <a:off x="4394200" y="1574800"/>
            <a:ext cx="3403600" cy="3937000"/>
          </a:xfrm>
          <a:prstGeom prst="roundRect">
            <a:avLst/>
          </a:prstGeom>
          <a:solidFill>
            <a:srgbClr val="E1F2F0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57F9A4-32B1-B8C8-1E02-850262BFBF30}"/>
              </a:ext>
            </a:extLst>
          </p:cNvPr>
          <p:cNvSpPr txBox="1"/>
          <p:nvPr/>
        </p:nvSpPr>
        <p:spPr>
          <a:xfrm>
            <a:off x="4699000" y="1854200"/>
            <a:ext cx="2794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 fontScale="92500"/>
          </a:bodyPr>
          <a:lstStyle/>
          <a:p>
            <a:pPr algn="ctr"/>
            <a:r>
              <a:rPr lang="en-IN" sz="2000" b="1">
                <a:solidFill>
                  <a:srgbClr val="222A34"/>
                </a:solidFill>
                <a:latin typeface="Georgia" panose="02040502050405020303" pitchFamily="18" charset="0"/>
              </a:rPr>
              <a:t>Inventory intelligence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22BC31-0E48-05D0-A30D-943D409DBEF6}"/>
              </a:ext>
            </a:extLst>
          </p:cNvPr>
          <p:cNvSpPr txBox="1"/>
          <p:nvPr/>
        </p:nvSpPr>
        <p:spPr>
          <a:xfrm>
            <a:off x="4724400" y="2590800"/>
            <a:ext cx="2717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1400">
                <a:solidFill>
                  <a:srgbClr val="222A34"/>
                </a:solidFill>
                <a:latin typeface="Aptos" panose="020B0004020202020204" pitchFamily="34" charset="0"/>
              </a:rPr>
              <a:t>Tracks component type, value, quantity, and physical address so the system can answer:</a:t>
            </a:r>
          </a:p>
          <a:p>
            <a:endParaRPr lang="en-US" sz="1400">
              <a:solidFill>
                <a:srgbClr val="222A34"/>
              </a:solidFill>
              <a:latin typeface="Aptos" panose="020B0004020202020204" pitchFamily="34" charset="0"/>
            </a:endParaRPr>
          </a:p>
          <a:p>
            <a:r>
              <a:rPr lang="en-US" sz="1400">
                <a:solidFill>
                  <a:srgbClr val="222A34"/>
                </a:solidFill>
                <a:latin typeface="Aptos" panose="020B0004020202020204" pitchFamily="34" charset="0"/>
              </a:rPr>
              <a:t>â€¢ What part is available?</a:t>
            </a:r>
          </a:p>
          <a:p>
            <a:r>
              <a:rPr lang="en-US" sz="1400">
                <a:solidFill>
                  <a:srgbClr val="222A34"/>
                </a:solidFill>
                <a:latin typeface="Aptos" panose="020B0004020202020204" pitchFamily="34" charset="0"/>
              </a:rPr>
              <a:t>â€¢ Where is it stored?</a:t>
            </a:r>
          </a:p>
          <a:p>
            <a:r>
              <a:rPr lang="en-US" sz="1400">
                <a:solidFill>
                  <a:srgbClr val="222A34"/>
                </a:solidFill>
                <a:latin typeface="Aptos" panose="020B0004020202020204" pitchFamily="34" charset="0"/>
              </a:rPr>
              <a:t>â€¢ Is the available count sufficient?</a:t>
            </a:r>
            <a:endParaRPr lang="en-IN" sz="14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7B9FA17-360E-2649-33CA-F189F08CAC24}"/>
              </a:ext>
            </a:extLst>
          </p:cNvPr>
          <p:cNvSpPr/>
          <p:nvPr/>
        </p:nvSpPr>
        <p:spPr>
          <a:xfrm>
            <a:off x="8077200" y="1574800"/>
            <a:ext cx="3403600" cy="3937000"/>
          </a:xfrm>
          <a:prstGeom prst="roundRect">
            <a:avLst/>
          </a:prstGeom>
          <a:solidFill>
            <a:srgbClr val="E7EEF8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80BE25-8093-D1C8-C5FC-A0F165F49887}"/>
              </a:ext>
            </a:extLst>
          </p:cNvPr>
          <p:cNvSpPr txBox="1"/>
          <p:nvPr/>
        </p:nvSpPr>
        <p:spPr>
          <a:xfrm>
            <a:off x="8382000" y="1854200"/>
            <a:ext cx="2794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IN" sz="2000" b="1">
                <a:solidFill>
                  <a:srgbClr val="222A34"/>
                </a:solidFill>
                <a:latin typeface="Georgia" panose="02040502050405020303" pitchFamily="18" charset="0"/>
              </a:rPr>
              <a:t>Deterministic workspace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21F648C-0A23-6121-D0AD-B9122EF66753}"/>
              </a:ext>
            </a:extLst>
          </p:cNvPr>
          <p:cNvSpPr/>
          <p:nvPr/>
        </p:nvSpPr>
        <p:spPr>
          <a:xfrm>
            <a:off x="8432800" y="2362200"/>
            <a:ext cx="2692400" cy="1524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10617B8-E262-2190-EBC5-13FE5C779F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865" y="2896540"/>
            <a:ext cx="78270" cy="15051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42740AA-F6EC-BF14-39F0-8440CD9F5CBA}"/>
              </a:ext>
            </a:extLst>
          </p:cNvPr>
          <p:cNvSpPr txBox="1"/>
          <p:nvPr/>
        </p:nvSpPr>
        <p:spPr>
          <a:xfrm>
            <a:off x="8559800" y="3606800"/>
            <a:ext cx="24384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000">
                <a:solidFill>
                  <a:srgbClr val="65707E"/>
                </a:solidFill>
                <a:latin typeface="Aptos" panose="020B0004020202020204" pitchFamily="34" charset="0"/>
              </a:rPr>
              <a:t>Analysis and review surface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73A76A-ED06-9500-4B80-7F3A379CB36F}"/>
              </a:ext>
            </a:extLst>
          </p:cNvPr>
          <p:cNvSpPr txBox="1"/>
          <p:nvPr/>
        </p:nvSpPr>
        <p:spPr>
          <a:xfrm>
            <a:off x="8432800" y="4064000"/>
            <a:ext cx="2717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US" sz="1400">
                <a:solidFill>
                  <a:srgbClr val="222A34"/>
                </a:solidFill>
                <a:latin typeface="Aptos" panose="020B0004020202020204" pitchFamily="34" charset="0"/>
              </a:rPr>
              <a:t>Canonical JSON, local checking, inventory-aware proposals, and reviewable revisions before any locate action.</a:t>
            </a:r>
            <a:endParaRPr lang="en-IN" sz="14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3F05246-538C-30F8-F53A-CA1CFAFB9233}"/>
              </a:ext>
            </a:extLst>
          </p:cNvPr>
          <p:cNvSpPr/>
          <p:nvPr/>
        </p:nvSpPr>
        <p:spPr>
          <a:xfrm>
            <a:off x="4572000" y="5765800"/>
            <a:ext cx="3048000" cy="381000"/>
          </a:xfrm>
          <a:prstGeom prst="roundRect">
            <a:avLst/>
          </a:prstGeom>
          <a:solidFill>
            <a:srgbClr val="152B47"/>
          </a:solidFill>
          <a:ln w="0">
            <a:solidFill>
              <a:srgbClr val="152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B7C250-3B15-4249-6849-22AC2EB76DCE}"/>
              </a:ext>
            </a:extLst>
          </p:cNvPr>
          <p:cNvSpPr txBox="1"/>
          <p:nvPr/>
        </p:nvSpPr>
        <p:spPr>
          <a:xfrm>
            <a:off x="4673600" y="5829300"/>
            <a:ext cx="2844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Three layers -&gt; one workflow</a:t>
            </a:r>
          </a:p>
        </p:txBody>
      </p:sp>
    </p:spTree>
    <p:extLst>
      <p:ext uri="{BB962C8B-B14F-4D97-AF65-F5344CB8AC3E}">
        <p14:creationId xmlns:p14="http://schemas.microsoft.com/office/powerpoint/2010/main" val="3464720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15EC13-B8E7-7FDE-1606-7D2FB4D8574F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52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827DB8-8ABD-6B1D-3863-95932363467D}"/>
              </a:ext>
            </a:extLst>
          </p:cNvPr>
          <p:cNvSpPr txBox="1"/>
          <p:nvPr/>
        </p:nvSpPr>
        <p:spPr>
          <a:xfrm>
            <a:off x="609600" y="228600"/>
            <a:ext cx="7620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Georgia" panose="02040502050405020303" pitchFamily="18" charset="0"/>
              </a:rPr>
              <a:t>Overall 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7E5F19-CA8C-FA9D-D723-7C65D5585C07}"/>
              </a:ext>
            </a:extLst>
          </p:cNvPr>
          <p:cNvSpPr txBox="1"/>
          <p:nvPr/>
        </p:nvSpPr>
        <p:spPr>
          <a:xfrm>
            <a:off x="609600" y="1041400"/>
            <a:ext cx="9652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sz="1600">
                <a:solidFill>
                  <a:srgbClr val="65707E"/>
                </a:solidFill>
                <a:latin typeface="Aptos" panose="020B0004020202020204" pitchFamily="34" charset="0"/>
              </a:rPr>
              <a:t>Host-mediated control keeps the hardware path reliable while supporting richer digital interaction.</a:t>
            </a:r>
            <a:endParaRPr lang="en-IN" sz="1600">
              <a:solidFill>
                <a:srgbClr val="65707E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6A9998D-BCB3-C194-20F2-7F5B61A6A568}"/>
              </a:ext>
            </a:extLst>
          </p:cNvPr>
          <p:cNvSpPr/>
          <p:nvPr/>
        </p:nvSpPr>
        <p:spPr>
          <a:xfrm>
            <a:off x="11201400" y="254000"/>
            <a:ext cx="558800" cy="304800"/>
          </a:xfrm>
          <a:prstGeom prst="roundRect">
            <a:avLst/>
          </a:prstGeom>
          <a:solidFill>
            <a:srgbClr val="D2A046"/>
          </a:solidFill>
          <a:ln w="0">
            <a:solidFill>
              <a:srgbClr val="D2A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2E89B7-3518-6423-1328-29B383885B2D}"/>
              </a:ext>
            </a:extLst>
          </p:cNvPr>
          <p:cNvSpPr txBox="1"/>
          <p:nvPr/>
        </p:nvSpPr>
        <p:spPr>
          <a:xfrm>
            <a:off x="11303000" y="317500"/>
            <a:ext cx="3556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300" b="1">
                <a:solidFill>
                  <a:srgbClr val="152B47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790584-59AE-6CF4-BF72-19330FD754DD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EAEF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7FC20B-DA3B-2757-3E7D-0A5D531CA092}"/>
              </a:ext>
            </a:extLst>
          </p:cNvPr>
          <p:cNvSpPr txBox="1"/>
          <p:nvPr/>
        </p:nvSpPr>
        <p:spPr>
          <a:xfrm>
            <a:off x="609600" y="6654800"/>
            <a:ext cx="5334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IN" sz="900">
                <a:solidFill>
                  <a:srgbClr val="65707E"/>
                </a:solidFill>
                <a:latin typeface="Aptos" panose="020B0004020202020204" pitchFamily="34" charset="0"/>
              </a:rPr>
              <a:t>AURA | Autonomous User Realization &amp; Assembly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BEB1D9-EF35-E92D-F45B-5D9E655CACE7}"/>
              </a:ext>
            </a:extLst>
          </p:cNvPr>
          <p:cNvSpPr/>
          <p:nvPr/>
        </p:nvSpPr>
        <p:spPr>
          <a:xfrm>
            <a:off x="584200" y="2032000"/>
            <a:ext cx="1905000" cy="1016000"/>
          </a:xfrm>
          <a:prstGeom prst="roundRect">
            <a:avLst/>
          </a:prstGeom>
          <a:solidFill>
            <a:srgbClr val="E7EEF8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761FD8-11D8-09FD-73C8-B01649692E98}"/>
              </a:ext>
            </a:extLst>
          </p:cNvPr>
          <p:cNvSpPr txBox="1"/>
          <p:nvPr/>
        </p:nvSpPr>
        <p:spPr>
          <a:xfrm>
            <a:off x="812800" y="2324100"/>
            <a:ext cx="1447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IN" sz="1700" b="1">
                <a:solidFill>
                  <a:srgbClr val="222A34"/>
                </a:solidFill>
                <a:latin typeface="Georgia" panose="02040502050405020303" pitchFamily="18" charset="0"/>
              </a:rPr>
              <a:t>Smartphone / user input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4E9422-9225-012B-714A-6A7BACA6AE21}"/>
              </a:ext>
            </a:extLst>
          </p:cNvPr>
          <p:cNvSpPr/>
          <p:nvPr/>
        </p:nvSpPr>
        <p:spPr>
          <a:xfrm>
            <a:off x="3276600" y="1854200"/>
            <a:ext cx="2667000" cy="1371600"/>
          </a:xfrm>
          <a:prstGeom prst="roundRect">
            <a:avLst/>
          </a:prstGeom>
          <a:solidFill>
            <a:srgbClr val="152B47"/>
          </a:solidFill>
          <a:ln w="0">
            <a:solidFill>
              <a:srgbClr val="152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A3FDD1-00F8-6420-276B-FD0E26FA6016}"/>
              </a:ext>
            </a:extLst>
          </p:cNvPr>
          <p:cNvSpPr txBox="1"/>
          <p:nvPr/>
        </p:nvSpPr>
        <p:spPr>
          <a:xfrm>
            <a:off x="3530600" y="2159000"/>
            <a:ext cx="2159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IN" sz="1900" b="1">
                <a:solidFill>
                  <a:srgbClr val="FFFFFF"/>
                </a:solidFill>
                <a:latin typeface="Georgia" panose="02040502050405020303" pitchFamily="18" charset="0"/>
              </a:rPr>
              <a:t>ESP32 host controller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D3E316-F79D-6AA0-A2CA-AB99804399F2}"/>
              </a:ext>
            </a:extLst>
          </p:cNvPr>
          <p:cNvSpPr txBox="1"/>
          <p:nvPr/>
        </p:nvSpPr>
        <p:spPr>
          <a:xfrm>
            <a:off x="3530600" y="2590800"/>
            <a:ext cx="2159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ptos" panose="020B0004020202020204" pitchFamily="34" charset="0"/>
              </a:rPr>
              <a:t>Local UI, metadata, Bluetooth bridge, node control</a:t>
            </a:r>
            <a:endParaRPr lang="en-IN" sz="14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CADF502-384F-A5CA-3F48-871CBDD4A2C3}"/>
              </a:ext>
            </a:extLst>
          </p:cNvPr>
          <p:cNvSpPr/>
          <p:nvPr/>
        </p:nvSpPr>
        <p:spPr>
          <a:xfrm>
            <a:off x="6731000" y="2032000"/>
            <a:ext cx="1905000" cy="1016000"/>
          </a:xfrm>
          <a:prstGeom prst="roundRect">
            <a:avLst/>
          </a:prstGeom>
          <a:solidFill>
            <a:srgbClr val="E1F2F0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19E860-0378-3766-B101-B1E8FA8A075D}"/>
              </a:ext>
            </a:extLst>
          </p:cNvPr>
          <p:cNvSpPr txBox="1"/>
          <p:nvPr/>
        </p:nvSpPr>
        <p:spPr>
          <a:xfrm>
            <a:off x="6959600" y="2324100"/>
            <a:ext cx="1447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IN" sz="1700" b="1">
                <a:solidFill>
                  <a:srgbClr val="222A34"/>
                </a:solidFill>
                <a:latin typeface="Georgia" panose="02040502050405020303" pitchFamily="18" charset="0"/>
              </a:rPr>
              <a:t>Distributed locator nodes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3EB771E-9FDB-B08C-2294-FFA4F0691988}"/>
              </a:ext>
            </a:extLst>
          </p:cNvPr>
          <p:cNvSpPr/>
          <p:nvPr/>
        </p:nvSpPr>
        <p:spPr>
          <a:xfrm>
            <a:off x="9423400" y="2032000"/>
            <a:ext cx="2184400" cy="1016000"/>
          </a:xfrm>
          <a:prstGeom prst="roundRect">
            <a:avLst/>
          </a:prstGeom>
          <a:solidFill>
            <a:srgbClr val="F5ECD6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35B1B8-3F3F-86E8-D2E4-785DAD70D626}"/>
              </a:ext>
            </a:extLst>
          </p:cNvPr>
          <p:cNvSpPr txBox="1"/>
          <p:nvPr/>
        </p:nvSpPr>
        <p:spPr>
          <a:xfrm>
            <a:off x="9652000" y="2324100"/>
            <a:ext cx="1727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IN" sz="1600" b="1">
                <a:solidFill>
                  <a:srgbClr val="222A34"/>
                </a:solidFill>
                <a:latin typeface="Georgia" panose="02040502050405020303" pitchFamily="18" charset="0"/>
              </a:rPr>
              <a:t>Physical components / storage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285254-206F-75DE-C902-A339B7FE0BEE}"/>
              </a:ext>
            </a:extLst>
          </p:cNvPr>
          <p:cNvCxnSpPr/>
          <p:nvPr/>
        </p:nvCxnSpPr>
        <p:spPr>
          <a:xfrm>
            <a:off x="2489200" y="2540000"/>
            <a:ext cx="787400" cy="0"/>
          </a:xfrm>
          <a:prstGeom prst="line">
            <a:avLst/>
          </a:prstGeom>
          <a:ln w="31750">
            <a:solidFill>
              <a:srgbClr val="D2A0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C0BA8A5-B609-EF20-DF7B-C34DB3600218}"/>
              </a:ext>
            </a:extLst>
          </p:cNvPr>
          <p:cNvCxnSpPr/>
          <p:nvPr/>
        </p:nvCxnSpPr>
        <p:spPr>
          <a:xfrm>
            <a:off x="5943600" y="2540000"/>
            <a:ext cx="787400" cy="0"/>
          </a:xfrm>
          <a:prstGeom prst="line">
            <a:avLst/>
          </a:prstGeom>
          <a:ln w="31750">
            <a:solidFill>
              <a:srgbClr val="D2A0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24D78F-D0B3-F52B-9495-A55B4DF92803}"/>
              </a:ext>
            </a:extLst>
          </p:cNvPr>
          <p:cNvCxnSpPr/>
          <p:nvPr/>
        </p:nvCxnSpPr>
        <p:spPr>
          <a:xfrm>
            <a:off x="8636000" y="2540000"/>
            <a:ext cx="787400" cy="0"/>
          </a:xfrm>
          <a:prstGeom prst="line">
            <a:avLst/>
          </a:prstGeom>
          <a:ln w="31750">
            <a:solidFill>
              <a:srgbClr val="D2A0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713EC6A-0E92-8B49-AD39-C3886811EE11}"/>
              </a:ext>
            </a:extLst>
          </p:cNvPr>
          <p:cNvSpPr/>
          <p:nvPr/>
        </p:nvSpPr>
        <p:spPr>
          <a:xfrm>
            <a:off x="1524000" y="3962400"/>
            <a:ext cx="317500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75EE45-DCA9-3EE5-CB35-CEE2429678B4}"/>
              </a:ext>
            </a:extLst>
          </p:cNvPr>
          <p:cNvSpPr txBox="1"/>
          <p:nvPr/>
        </p:nvSpPr>
        <p:spPr>
          <a:xfrm>
            <a:off x="1803400" y="4241800"/>
            <a:ext cx="2616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IN" b="1">
                <a:solidFill>
                  <a:srgbClr val="222A34"/>
                </a:solidFill>
                <a:latin typeface="Georgia" panose="02040502050405020303" pitchFamily="18" charset="0"/>
              </a:rPr>
              <a:t>Inventory and metadata layer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878EC6-1436-4578-A398-FACDB5676CE6}"/>
              </a:ext>
            </a:extLst>
          </p:cNvPr>
          <p:cNvSpPr txBox="1"/>
          <p:nvPr/>
        </p:nvSpPr>
        <p:spPr>
          <a:xfrm>
            <a:off x="1803400" y="4673600"/>
            <a:ext cx="2616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US" sz="1400">
                <a:solidFill>
                  <a:srgbClr val="222A34"/>
                </a:solidFill>
                <a:latin typeface="Aptos" panose="020B0004020202020204" pitchFamily="34" charset="0"/>
              </a:rPr>
              <a:t>Value, quantity, storage address, optional notes, media, and project linkage.</a:t>
            </a:r>
            <a:endParaRPr lang="en-IN" sz="14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8178A85-6DB8-DB2B-3434-EA5060CE1D50}"/>
              </a:ext>
            </a:extLst>
          </p:cNvPr>
          <p:cNvSpPr/>
          <p:nvPr/>
        </p:nvSpPr>
        <p:spPr>
          <a:xfrm>
            <a:off x="4978400" y="3962400"/>
            <a:ext cx="317500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9B43E0-6371-2A08-FC10-D4DDE491AE24}"/>
              </a:ext>
            </a:extLst>
          </p:cNvPr>
          <p:cNvSpPr txBox="1"/>
          <p:nvPr/>
        </p:nvSpPr>
        <p:spPr>
          <a:xfrm>
            <a:off x="5257800" y="4241800"/>
            <a:ext cx="2616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IN" b="1">
                <a:solidFill>
                  <a:srgbClr val="222A34"/>
                </a:solidFill>
                <a:latin typeface="Georgia" panose="02040502050405020303" pitchFamily="18" charset="0"/>
              </a:rPr>
              <a:t>Deterministic circuit workspace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00CA44-D07D-112F-4FD3-7F2F045E5548}"/>
              </a:ext>
            </a:extLst>
          </p:cNvPr>
          <p:cNvSpPr txBox="1"/>
          <p:nvPr/>
        </p:nvSpPr>
        <p:spPr>
          <a:xfrm>
            <a:off x="5257800" y="4673600"/>
            <a:ext cx="2616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US" sz="1400">
                <a:solidFill>
                  <a:srgbClr val="222A34"/>
                </a:solidFill>
                <a:latin typeface="Aptos" panose="020B0004020202020204" pitchFamily="34" charset="0"/>
              </a:rPr>
              <a:t>Canonical JSON, local rules, compare mode, backend persistence, and honest preview boundaries.</a:t>
            </a:r>
            <a:endParaRPr lang="en-IN" sz="14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A92A6AC-FBE3-0190-CBA7-BB0A3ACD1104}"/>
              </a:ext>
            </a:extLst>
          </p:cNvPr>
          <p:cNvSpPr/>
          <p:nvPr/>
        </p:nvSpPr>
        <p:spPr>
          <a:xfrm>
            <a:off x="8432800" y="3962400"/>
            <a:ext cx="317500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253348-E834-D2D5-5EA5-845FC2AC94B5}"/>
              </a:ext>
            </a:extLst>
          </p:cNvPr>
          <p:cNvSpPr txBox="1"/>
          <p:nvPr/>
        </p:nvSpPr>
        <p:spPr>
          <a:xfrm>
            <a:off x="8712200" y="4241800"/>
            <a:ext cx="2616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b="1">
                <a:solidFill>
                  <a:srgbClr val="222A34"/>
                </a:solidFill>
                <a:latin typeface="Georgia" panose="02040502050405020303" pitchFamily="18" charset="0"/>
              </a:rPr>
              <a:t>AI assistance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87194C-6302-6DEB-6E26-5CAA8B1DD4D8}"/>
              </a:ext>
            </a:extLst>
          </p:cNvPr>
          <p:cNvSpPr txBox="1"/>
          <p:nvPr/>
        </p:nvSpPr>
        <p:spPr>
          <a:xfrm>
            <a:off x="8712200" y="4673600"/>
            <a:ext cx="2616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US" sz="1400">
                <a:solidFill>
                  <a:srgbClr val="222A34"/>
                </a:solidFill>
                <a:latin typeface="Aptos" panose="020B0004020202020204" pitchFamily="34" charset="0"/>
              </a:rPr>
              <a:t>Structured suggestions, explanations, alternatives, and revisions grounded by deterministic data.</a:t>
            </a:r>
            <a:endParaRPr lang="en-IN" sz="14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0162F87-4AD9-5BB4-6C33-F61EA5848A49}"/>
              </a:ext>
            </a:extLst>
          </p:cNvPr>
          <p:cNvCxnSpPr/>
          <p:nvPr/>
        </p:nvCxnSpPr>
        <p:spPr>
          <a:xfrm flipH="1">
            <a:off x="3124200" y="3225800"/>
            <a:ext cx="1498600" cy="736600"/>
          </a:xfrm>
          <a:prstGeom prst="line">
            <a:avLst/>
          </a:prstGeom>
          <a:ln w="25400">
            <a:solidFill>
              <a:srgbClr val="2C70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BDFDE83-698C-F65F-10C2-EE1D4D48D47A}"/>
              </a:ext>
            </a:extLst>
          </p:cNvPr>
          <p:cNvCxnSpPr/>
          <p:nvPr/>
        </p:nvCxnSpPr>
        <p:spPr>
          <a:xfrm>
            <a:off x="4622800" y="3225800"/>
            <a:ext cx="1955800" cy="736600"/>
          </a:xfrm>
          <a:prstGeom prst="line">
            <a:avLst/>
          </a:prstGeom>
          <a:ln w="25400">
            <a:solidFill>
              <a:srgbClr val="2C70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2243FC6-67A4-430A-1D96-1AE1C8F71889}"/>
              </a:ext>
            </a:extLst>
          </p:cNvPr>
          <p:cNvCxnSpPr/>
          <p:nvPr/>
        </p:nvCxnSpPr>
        <p:spPr>
          <a:xfrm>
            <a:off x="4622800" y="3225800"/>
            <a:ext cx="5410200" cy="736600"/>
          </a:xfrm>
          <a:prstGeom prst="line">
            <a:avLst/>
          </a:prstGeom>
          <a:ln w="25400">
            <a:solidFill>
              <a:srgbClr val="2C70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946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390938-D752-753F-BDCF-01C1C643DAAB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52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734CA3-C2DC-C011-044C-853B303A85D8}"/>
              </a:ext>
            </a:extLst>
          </p:cNvPr>
          <p:cNvSpPr txBox="1"/>
          <p:nvPr/>
        </p:nvSpPr>
        <p:spPr>
          <a:xfrm>
            <a:off x="609600" y="228600"/>
            <a:ext cx="7620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Georgia" panose="02040502050405020303" pitchFamily="18" charset="0"/>
              </a:rPr>
              <a:t>Hardware Prototype and Design Logic</a:t>
            </a:r>
            <a:endParaRPr lang="en-IN" sz="26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C8A318-3A27-E4F4-877F-CB3727A68CC9}"/>
              </a:ext>
            </a:extLst>
          </p:cNvPr>
          <p:cNvSpPr txBox="1"/>
          <p:nvPr/>
        </p:nvSpPr>
        <p:spPr>
          <a:xfrm>
            <a:off x="609600" y="1041400"/>
            <a:ext cx="9652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sz="1600">
                <a:solidFill>
                  <a:srgbClr val="65707E"/>
                </a:solidFill>
                <a:latin typeface="Aptos" panose="020B0004020202020204" pitchFamily="34" charset="0"/>
              </a:rPr>
              <a:t>The hardware model is designed for affordability, low power use, and flexible storage layouts.</a:t>
            </a:r>
            <a:endParaRPr lang="en-IN" sz="1600">
              <a:solidFill>
                <a:srgbClr val="65707E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A0AC57-6AF5-6E4F-E01B-EC9BFE6ED715}"/>
              </a:ext>
            </a:extLst>
          </p:cNvPr>
          <p:cNvSpPr/>
          <p:nvPr/>
        </p:nvSpPr>
        <p:spPr>
          <a:xfrm>
            <a:off x="11201400" y="254000"/>
            <a:ext cx="558800" cy="304800"/>
          </a:xfrm>
          <a:prstGeom prst="roundRect">
            <a:avLst/>
          </a:prstGeom>
          <a:solidFill>
            <a:srgbClr val="D2A046"/>
          </a:solidFill>
          <a:ln w="0">
            <a:solidFill>
              <a:srgbClr val="D2A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822D71-9199-32B4-BF79-98D038548B30}"/>
              </a:ext>
            </a:extLst>
          </p:cNvPr>
          <p:cNvSpPr txBox="1"/>
          <p:nvPr/>
        </p:nvSpPr>
        <p:spPr>
          <a:xfrm>
            <a:off x="11303000" y="317500"/>
            <a:ext cx="3556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300" b="1">
                <a:solidFill>
                  <a:srgbClr val="152B47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0E6CD-FBCC-6BE6-1F5D-35D9146D6347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EAEF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14A074-90CF-AE69-7DCC-D76573EB065A}"/>
              </a:ext>
            </a:extLst>
          </p:cNvPr>
          <p:cNvSpPr txBox="1"/>
          <p:nvPr/>
        </p:nvSpPr>
        <p:spPr>
          <a:xfrm>
            <a:off x="609600" y="6654800"/>
            <a:ext cx="5334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IN" sz="900">
                <a:solidFill>
                  <a:srgbClr val="65707E"/>
                </a:solidFill>
                <a:latin typeface="Aptos" panose="020B0004020202020204" pitchFamily="34" charset="0"/>
              </a:rPr>
              <a:t>AURA | Autonomous User Realization &amp; Assembly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CECFE50-5C50-8D53-E9F3-4B5E2D23D86F}"/>
              </a:ext>
            </a:extLst>
          </p:cNvPr>
          <p:cNvSpPr/>
          <p:nvPr/>
        </p:nvSpPr>
        <p:spPr>
          <a:xfrm>
            <a:off x="660400" y="1625600"/>
            <a:ext cx="3657600" cy="241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A613B5-ED68-FDE8-BA24-F261A41A3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623" y="2415117"/>
            <a:ext cx="725155" cy="5291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AA1DE5-076E-E01D-764F-7FA4F20E5E2D}"/>
              </a:ext>
            </a:extLst>
          </p:cNvPr>
          <p:cNvSpPr txBox="1"/>
          <p:nvPr/>
        </p:nvSpPr>
        <p:spPr>
          <a:xfrm>
            <a:off x="787400" y="3759200"/>
            <a:ext cx="34036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000">
                <a:solidFill>
                  <a:srgbClr val="65707E"/>
                </a:solidFill>
                <a:latin typeface="Aptos" panose="020B0004020202020204" pitchFamily="34" charset="0"/>
              </a:rPr>
              <a:t>ESP32 host prototype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96DFC2-9914-78E2-0BFE-75EFEED5D5CA}"/>
              </a:ext>
            </a:extLst>
          </p:cNvPr>
          <p:cNvSpPr/>
          <p:nvPr/>
        </p:nvSpPr>
        <p:spPr>
          <a:xfrm>
            <a:off x="4572000" y="1625600"/>
            <a:ext cx="2159000" cy="241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0156ED7-8AE0-85DD-0EF2-D09B5D31C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169" y="2163694"/>
            <a:ext cx="752662" cy="10320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B4CAE45-5323-A6B4-399D-27814323FBFD}"/>
              </a:ext>
            </a:extLst>
          </p:cNvPr>
          <p:cNvSpPr txBox="1"/>
          <p:nvPr/>
        </p:nvSpPr>
        <p:spPr>
          <a:xfrm>
            <a:off x="4699000" y="3759200"/>
            <a:ext cx="1905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000">
                <a:solidFill>
                  <a:srgbClr val="65707E"/>
                </a:solidFill>
                <a:latin typeface="Aptos" panose="020B0004020202020204" pitchFamily="34" charset="0"/>
              </a:rPr>
              <a:t>Low-power node prototype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DB63D82-A632-980D-1DD6-241998797FEA}"/>
              </a:ext>
            </a:extLst>
          </p:cNvPr>
          <p:cNvSpPr/>
          <p:nvPr/>
        </p:nvSpPr>
        <p:spPr>
          <a:xfrm>
            <a:off x="7035800" y="1625600"/>
            <a:ext cx="4470400" cy="241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C0931B-F737-A575-7851-76FF1B7E6400}"/>
              </a:ext>
            </a:extLst>
          </p:cNvPr>
          <p:cNvSpPr txBox="1"/>
          <p:nvPr/>
        </p:nvSpPr>
        <p:spPr>
          <a:xfrm>
            <a:off x="7340600" y="1905000"/>
            <a:ext cx="3860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IN" sz="1900" b="1">
                <a:solidFill>
                  <a:srgbClr val="222A34"/>
                </a:solidFill>
                <a:latin typeface="Georgia" panose="02040502050405020303" pitchFamily="18" charset="0"/>
              </a:rPr>
              <a:t>Hardware stack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B1366A-5DE6-175B-E3A8-C4AFD562DEE6}"/>
              </a:ext>
            </a:extLst>
          </p:cNvPr>
          <p:cNvSpPr txBox="1"/>
          <p:nvPr/>
        </p:nvSpPr>
        <p:spPr>
          <a:xfrm>
            <a:off x="7340600" y="2362200"/>
            <a:ext cx="3860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IN" sz="1500">
                <a:solidFill>
                  <a:srgbClr val="222A34"/>
                </a:solidFill>
                <a:latin typeface="Aptos" panose="020B0004020202020204" pitchFamily="34" charset="0"/>
              </a:rPr>
              <a:t>â€¢ ESP32 host for local search, metadata, Bluetooth, and RF bridging</a:t>
            </a:r>
          </a:p>
          <a:p>
            <a:r>
              <a:rPr lang="en-IN" sz="1500">
                <a:solidFill>
                  <a:srgbClr val="222A34"/>
                </a:solidFill>
                <a:latin typeface="Aptos" panose="020B0004020202020204" pitchFamily="34" charset="0"/>
              </a:rPr>
              <a:t>â€¢ ATtiny404 + nRF24L01+ node model for addressed low-power indication</a:t>
            </a:r>
          </a:p>
          <a:p>
            <a:r>
              <a:rPr lang="en-IN" sz="1500">
                <a:solidFill>
                  <a:srgbClr val="222A34"/>
                </a:solidFill>
                <a:latin typeface="Aptos" panose="020B0004020202020204" pitchFamily="34" charset="0"/>
              </a:rPr>
              <a:t>â€¢ WS2812B visual output for drawers, bins, and grouped storage strips</a:t>
            </a:r>
          </a:p>
          <a:p>
            <a:r>
              <a:rPr lang="en-IN" sz="1500">
                <a:solidFill>
                  <a:srgbClr val="222A34"/>
                </a:solidFill>
                <a:latin typeface="Aptos" panose="020B0004020202020204" pitchFamily="34" charset="0"/>
              </a:rPr>
              <a:t>â€¢ Optional buzzer/project marker extension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765FC55-86BF-6239-EF31-4210D3DBBF74}"/>
              </a:ext>
            </a:extLst>
          </p:cNvPr>
          <p:cNvSpPr/>
          <p:nvPr/>
        </p:nvSpPr>
        <p:spPr>
          <a:xfrm>
            <a:off x="660400" y="4368800"/>
            <a:ext cx="10845800" cy="1676400"/>
          </a:xfrm>
          <a:prstGeom prst="roundRect">
            <a:avLst/>
          </a:prstGeom>
          <a:solidFill>
            <a:srgbClr val="F5ECD6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D3EA85-203E-298F-C874-6798BCD3FF6B}"/>
              </a:ext>
            </a:extLst>
          </p:cNvPr>
          <p:cNvSpPr txBox="1"/>
          <p:nvPr/>
        </p:nvSpPr>
        <p:spPr>
          <a:xfrm>
            <a:off x="990600" y="4622800"/>
            <a:ext cx="10287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sz="2000" b="1">
                <a:solidFill>
                  <a:srgbClr val="222A34"/>
                </a:solidFill>
                <a:latin typeface="Georgia" panose="02040502050405020303" pitchFamily="18" charset="0"/>
              </a:rPr>
              <a:t>Why this hardware model is practical</a:t>
            </a:r>
            <a:endParaRPr lang="en-IN" sz="2000" b="1">
              <a:solidFill>
                <a:srgbClr val="222A34"/>
              </a:solidFill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AF3B3C-968E-5611-2EA3-5FBBC953CFBC}"/>
              </a:ext>
            </a:extLst>
          </p:cNvPr>
          <p:cNvSpPr txBox="1"/>
          <p:nvPr/>
        </p:nvSpPr>
        <p:spPr>
          <a:xfrm>
            <a:off x="990600" y="5080000"/>
            <a:ext cx="10210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1600">
                <a:solidFill>
                  <a:srgbClr val="222A34"/>
                </a:solidFill>
                <a:latin typeface="Aptos" panose="020B0004020202020204" pitchFamily="34" charset="0"/>
              </a:rPr>
              <a:t>One node can control multiple nearby indicator positions in a dense storage row, which keeps the system affordable. When storage is spread across a room, more nodes can be added without changing the basic host-driven architecture.</a:t>
            </a:r>
            <a:endParaRPr lang="en-IN" sz="16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000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2B331E-54B0-AF10-A7FF-3EE44E5B9A2E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52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2DFA73-7E5E-5D0F-393A-5261CDCB0973}"/>
              </a:ext>
            </a:extLst>
          </p:cNvPr>
          <p:cNvSpPr txBox="1"/>
          <p:nvPr/>
        </p:nvSpPr>
        <p:spPr>
          <a:xfrm>
            <a:off x="609600" y="228600"/>
            <a:ext cx="7620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Georgia" panose="02040502050405020303" pitchFamily="18" charset="0"/>
              </a:rPr>
              <a:t>Software Workspace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27D5A-2F3C-B23E-1E42-136E4BACAF34}"/>
              </a:ext>
            </a:extLst>
          </p:cNvPr>
          <p:cNvSpPr txBox="1"/>
          <p:nvPr/>
        </p:nvSpPr>
        <p:spPr>
          <a:xfrm>
            <a:off x="609600" y="1041400"/>
            <a:ext cx="9652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sz="1600">
                <a:solidFill>
                  <a:srgbClr val="65707E"/>
                </a:solidFill>
                <a:latin typeface="Aptos" panose="020B0004020202020204" pitchFamily="34" charset="0"/>
              </a:rPr>
              <a:t>The software side is built around structured data, local checking, and reviewable assistance.</a:t>
            </a:r>
            <a:endParaRPr lang="en-IN" sz="1600">
              <a:solidFill>
                <a:srgbClr val="65707E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8AE395-20B7-A136-3CCD-EBBC4A265202}"/>
              </a:ext>
            </a:extLst>
          </p:cNvPr>
          <p:cNvSpPr/>
          <p:nvPr/>
        </p:nvSpPr>
        <p:spPr>
          <a:xfrm>
            <a:off x="11201400" y="254000"/>
            <a:ext cx="558800" cy="304800"/>
          </a:xfrm>
          <a:prstGeom prst="roundRect">
            <a:avLst/>
          </a:prstGeom>
          <a:solidFill>
            <a:srgbClr val="D2A046"/>
          </a:solidFill>
          <a:ln w="0">
            <a:solidFill>
              <a:srgbClr val="D2A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900856-3CDB-0BA5-FDAB-3B9D672C9152}"/>
              </a:ext>
            </a:extLst>
          </p:cNvPr>
          <p:cNvSpPr txBox="1"/>
          <p:nvPr/>
        </p:nvSpPr>
        <p:spPr>
          <a:xfrm>
            <a:off x="11303000" y="317500"/>
            <a:ext cx="3556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300" b="1">
                <a:solidFill>
                  <a:srgbClr val="152B47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01FF70-9A96-378F-2EC6-C109A61A8812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EAEF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870D1D-760C-0295-7B39-04CFADE2D922}"/>
              </a:ext>
            </a:extLst>
          </p:cNvPr>
          <p:cNvSpPr txBox="1"/>
          <p:nvPr/>
        </p:nvSpPr>
        <p:spPr>
          <a:xfrm>
            <a:off x="609600" y="6654800"/>
            <a:ext cx="5334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IN" sz="900">
                <a:solidFill>
                  <a:srgbClr val="65707E"/>
                </a:solidFill>
                <a:latin typeface="Aptos" panose="020B0004020202020204" pitchFamily="34" charset="0"/>
              </a:rPr>
              <a:t>AURA | Autonomous User Realization &amp; Assembly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525E82-43F3-B0C3-2198-276720C7BA88}"/>
              </a:ext>
            </a:extLst>
          </p:cNvPr>
          <p:cNvSpPr/>
          <p:nvPr/>
        </p:nvSpPr>
        <p:spPr>
          <a:xfrm>
            <a:off x="660400" y="1574800"/>
            <a:ext cx="6680200" cy="4013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AECB08-C4D7-7CAB-D5E6-3115C8552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262" y="2533226"/>
            <a:ext cx="2866475" cy="17915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73AFAD-E707-2D55-F516-D2C241A9ECBC}"/>
              </a:ext>
            </a:extLst>
          </p:cNvPr>
          <p:cNvSpPr txBox="1"/>
          <p:nvPr/>
        </p:nvSpPr>
        <p:spPr>
          <a:xfrm>
            <a:off x="787400" y="5308600"/>
            <a:ext cx="6426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000">
                <a:solidFill>
                  <a:srgbClr val="65707E"/>
                </a:solidFill>
                <a:latin typeface="Aptos" panose="020B0004020202020204" pitchFamily="34" charset="0"/>
              </a:rPr>
              <a:t>Current workspace overview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530538-EA21-52AE-AAA3-0234FB3C583B}"/>
              </a:ext>
            </a:extLst>
          </p:cNvPr>
          <p:cNvSpPr/>
          <p:nvPr/>
        </p:nvSpPr>
        <p:spPr>
          <a:xfrm>
            <a:off x="7620000" y="1574800"/>
            <a:ext cx="3911600" cy="4013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DC4A48-6BAB-8DAA-FFD0-BA938F41F819}"/>
              </a:ext>
            </a:extLst>
          </p:cNvPr>
          <p:cNvSpPr txBox="1"/>
          <p:nvPr/>
        </p:nvSpPr>
        <p:spPr>
          <a:xfrm>
            <a:off x="7899400" y="1854200"/>
            <a:ext cx="3352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 fontScale="92500"/>
          </a:bodyPr>
          <a:lstStyle/>
          <a:p>
            <a:r>
              <a:rPr lang="en-IN" sz="1900" b="1">
                <a:solidFill>
                  <a:srgbClr val="222A34"/>
                </a:solidFill>
                <a:latin typeface="Georgia" panose="02040502050405020303" pitchFamily="18" charset="0"/>
              </a:rPr>
              <a:t>Current software strengths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10A11D-D6E3-6185-5EA0-91E81F1EF2CC}"/>
              </a:ext>
            </a:extLst>
          </p:cNvPr>
          <p:cNvSpPr txBox="1"/>
          <p:nvPr/>
        </p:nvSpPr>
        <p:spPr>
          <a:xfrm>
            <a:off x="7899400" y="2311400"/>
            <a:ext cx="33274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1500">
                <a:solidFill>
                  <a:srgbClr val="222A34"/>
                </a:solidFill>
                <a:latin typeface="Aptos" panose="020B0004020202020204" pitchFamily="34" charset="0"/>
              </a:rPr>
              <a:t>â€¢ Canonical JSON remains the source of truth</a:t>
            </a:r>
          </a:p>
          <a:p>
            <a:r>
              <a:rPr lang="en-US" sz="1500">
                <a:solidFill>
                  <a:srgbClr val="222A34"/>
                </a:solidFill>
                <a:latin typeface="Aptos" panose="020B0004020202020204" pitchFamily="34" charset="0"/>
              </a:rPr>
              <a:t>â€¢ Local deterministic analysis runs before blind AI reasoning</a:t>
            </a:r>
          </a:p>
          <a:p>
            <a:r>
              <a:rPr lang="en-US" sz="1500">
                <a:solidFill>
                  <a:srgbClr val="222A34"/>
                </a:solidFill>
                <a:latin typeface="Aptos" panose="020B0004020202020204" pitchFamily="34" charset="0"/>
              </a:rPr>
              <a:t>â€¢ Backend-backed persistence supports compare and apply workflows</a:t>
            </a:r>
          </a:p>
          <a:p>
            <a:r>
              <a:rPr lang="en-US" sz="1500">
                <a:solidFill>
                  <a:srgbClr val="222A34"/>
                </a:solidFill>
                <a:latin typeface="Aptos" panose="020B0004020202020204" pitchFamily="34" charset="0"/>
              </a:rPr>
              <a:t>â€¢ Inventory awareness is kept in the authoring loop</a:t>
            </a:r>
          </a:p>
          <a:p>
            <a:r>
              <a:rPr lang="en-US" sz="1500">
                <a:solidFill>
                  <a:srgbClr val="222A34"/>
                </a:solidFill>
                <a:latin typeface="Aptos" panose="020B0004020202020204" pitchFamily="34" charset="0"/>
              </a:rPr>
              <a:t>â€¢ Preview behavior is shown clearly as illustrative, not electrically verified</a:t>
            </a:r>
            <a:endParaRPr lang="en-IN" sz="15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53F51D5-F294-086F-2A88-4F601D7CE792}"/>
              </a:ext>
            </a:extLst>
          </p:cNvPr>
          <p:cNvSpPr/>
          <p:nvPr/>
        </p:nvSpPr>
        <p:spPr>
          <a:xfrm>
            <a:off x="7924800" y="5130800"/>
            <a:ext cx="1473200" cy="330200"/>
          </a:xfrm>
          <a:prstGeom prst="roundRect">
            <a:avLst/>
          </a:prstGeom>
          <a:solidFill>
            <a:srgbClr val="2C706C"/>
          </a:solidFill>
          <a:ln w="0">
            <a:solidFill>
              <a:srgbClr val="2C70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29FD4A-FAE0-4FCC-0B00-9DB9176A48CA}"/>
              </a:ext>
            </a:extLst>
          </p:cNvPr>
          <p:cNvSpPr txBox="1"/>
          <p:nvPr/>
        </p:nvSpPr>
        <p:spPr>
          <a:xfrm>
            <a:off x="8026400" y="5194300"/>
            <a:ext cx="1270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Local-first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3053E67-9981-75CC-6D37-7913DA1A1EC6}"/>
              </a:ext>
            </a:extLst>
          </p:cNvPr>
          <p:cNvSpPr/>
          <p:nvPr/>
        </p:nvSpPr>
        <p:spPr>
          <a:xfrm>
            <a:off x="9550400" y="5130800"/>
            <a:ext cx="1625600" cy="330200"/>
          </a:xfrm>
          <a:prstGeom prst="roundRect">
            <a:avLst/>
          </a:prstGeom>
          <a:solidFill>
            <a:srgbClr val="152B47"/>
          </a:solidFill>
          <a:ln w="0">
            <a:solidFill>
              <a:srgbClr val="152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E03BB8-001B-8B2E-87EC-AE7CC76BA8FC}"/>
              </a:ext>
            </a:extLst>
          </p:cNvPr>
          <p:cNvSpPr txBox="1"/>
          <p:nvPr/>
        </p:nvSpPr>
        <p:spPr>
          <a:xfrm>
            <a:off x="9652000" y="5194300"/>
            <a:ext cx="14224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Reviewable</a:t>
            </a:r>
          </a:p>
        </p:txBody>
      </p:sp>
    </p:spTree>
    <p:extLst>
      <p:ext uri="{BB962C8B-B14F-4D97-AF65-F5344CB8AC3E}">
        <p14:creationId xmlns:p14="http://schemas.microsoft.com/office/powerpoint/2010/main" val="1755458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428412-99A5-2952-F343-AD105E2A1FB6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52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39838E-56FD-27EF-79D5-ED50FE4CBA3F}"/>
              </a:ext>
            </a:extLst>
          </p:cNvPr>
          <p:cNvSpPr txBox="1"/>
          <p:nvPr/>
        </p:nvSpPr>
        <p:spPr>
          <a:xfrm>
            <a:off x="609600" y="228600"/>
            <a:ext cx="7620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Georgia" panose="02040502050405020303" pitchFamily="18" charset="0"/>
              </a:rPr>
              <a:t>Web UI Breakdown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083FE0-9CAE-9765-ACB8-C4A377F30351}"/>
              </a:ext>
            </a:extLst>
          </p:cNvPr>
          <p:cNvSpPr txBox="1"/>
          <p:nvPr/>
        </p:nvSpPr>
        <p:spPr>
          <a:xfrm>
            <a:off x="609600" y="1041400"/>
            <a:ext cx="9652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1600">
                <a:solidFill>
                  <a:srgbClr val="65707E"/>
                </a:solidFill>
                <a:latin typeface="Aptos" panose="020B0004020202020204" pitchFamily="34" charset="0"/>
              </a:rPr>
              <a:t>The interface supports workspace editing, canvas review, and analysis without treating the screenshot as truth.</a:t>
            </a:r>
            <a:endParaRPr lang="en-IN" sz="1600">
              <a:solidFill>
                <a:srgbClr val="65707E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497799F-F094-E387-844E-53B72FBBEAC8}"/>
              </a:ext>
            </a:extLst>
          </p:cNvPr>
          <p:cNvSpPr/>
          <p:nvPr/>
        </p:nvSpPr>
        <p:spPr>
          <a:xfrm>
            <a:off x="11201400" y="254000"/>
            <a:ext cx="558800" cy="304800"/>
          </a:xfrm>
          <a:prstGeom prst="roundRect">
            <a:avLst/>
          </a:prstGeom>
          <a:solidFill>
            <a:srgbClr val="D2A046"/>
          </a:solidFill>
          <a:ln w="0">
            <a:solidFill>
              <a:srgbClr val="D2A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D929DB-D259-0353-1625-6A62BBC495BD}"/>
              </a:ext>
            </a:extLst>
          </p:cNvPr>
          <p:cNvSpPr txBox="1"/>
          <p:nvPr/>
        </p:nvSpPr>
        <p:spPr>
          <a:xfrm>
            <a:off x="11303000" y="317500"/>
            <a:ext cx="3556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300" b="1">
                <a:solidFill>
                  <a:srgbClr val="152B47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257238-E60D-28D0-78D7-23478B725EF5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EAEF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89059A-3FD6-B382-BE49-132406B16C1F}"/>
              </a:ext>
            </a:extLst>
          </p:cNvPr>
          <p:cNvSpPr txBox="1"/>
          <p:nvPr/>
        </p:nvSpPr>
        <p:spPr>
          <a:xfrm>
            <a:off x="609600" y="6654800"/>
            <a:ext cx="5334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IN" sz="900">
                <a:solidFill>
                  <a:srgbClr val="65707E"/>
                </a:solidFill>
                <a:latin typeface="Aptos" panose="020B0004020202020204" pitchFamily="34" charset="0"/>
              </a:rPr>
              <a:t>AURA | Autonomous User Realization &amp; Assembly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8331ED-2CD5-8F7A-8C10-3176E983CAE2}"/>
              </a:ext>
            </a:extLst>
          </p:cNvPr>
          <p:cNvSpPr/>
          <p:nvPr/>
        </p:nvSpPr>
        <p:spPr>
          <a:xfrm>
            <a:off x="660400" y="1600200"/>
            <a:ext cx="3200400" cy="3606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266CDC-EC23-3602-8960-782D1A964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553" y="2551100"/>
            <a:ext cx="658094" cy="14001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4A0CB5-66A6-400C-16C7-89C33A47E7E1}"/>
              </a:ext>
            </a:extLst>
          </p:cNvPr>
          <p:cNvSpPr txBox="1"/>
          <p:nvPr/>
        </p:nvSpPr>
        <p:spPr>
          <a:xfrm>
            <a:off x="787400" y="4927600"/>
            <a:ext cx="29464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000">
                <a:solidFill>
                  <a:srgbClr val="65707E"/>
                </a:solidFill>
                <a:latin typeface="Aptos" panose="020B0004020202020204" pitchFamily="34" charset="0"/>
              </a:rPr>
              <a:t>Left panel / project controls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2C2D771-8A16-D50B-A18D-3B013BFD4E8C}"/>
              </a:ext>
            </a:extLst>
          </p:cNvPr>
          <p:cNvSpPr/>
          <p:nvPr/>
        </p:nvSpPr>
        <p:spPr>
          <a:xfrm>
            <a:off x="4191000" y="1600200"/>
            <a:ext cx="3810000" cy="3606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7F62CF7-6196-87BB-B817-1798162806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2931" y="2551100"/>
            <a:ext cx="966137" cy="14001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C4FAC13-8E2E-0E4C-F3E7-7C09080155E0}"/>
              </a:ext>
            </a:extLst>
          </p:cNvPr>
          <p:cNvSpPr txBox="1"/>
          <p:nvPr/>
        </p:nvSpPr>
        <p:spPr>
          <a:xfrm>
            <a:off x="4318000" y="4927600"/>
            <a:ext cx="3556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000">
                <a:solidFill>
                  <a:srgbClr val="65707E"/>
                </a:solidFill>
                <a:latin typeface="Aptos" panose="020B0004020202020204" pitchFamily="34" charset="0"/>
              </a:rPr>
              <a:t>Canvas and circuit space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92A32A9-840A-5B36-3C9A-DE3424A313F9}"/>
              </a:ext>
            </a:extLst>
          </p:cNvPr>
          <p:cNvSpPr/>
          <p:nvPr/>
        </p:nvSpPr>
        <p:spPr>
          <a:xfrm>
            <a:off x="8331200" y="1600200"/>
            <a:ext cx="3200400" cy="3606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34488FC-53CE-14B0-1F28-E7371D11C4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349" y="2551100"/>
            <a:ext cx="728103" cy="140019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0499BA4-9E3A-0327-8A6A-39AE1B232DAC}"/>
              </a:ext>
            </a:extLst>
          </p:cNvPr>
          <p:cNvSpPr txBox="1"/>
          <p:nvPr/>
        </p:nvSpPr>
        <p:spPr>
          <a:xfrm>
            <a:off x="8458200" y="4927600"/>
            <a:ext cx="29464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000">
                <a:solidFill>
                  <a:srgbClr val="65707E"/>
                </a:solidFill>
                <a:latin typeface="Aptos" panose="020B0004020202020204" pitchFamily="34" charset="0"/>
              </a:rPr>
              <a:t>Analysis / explanation surface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98723E3-4B1B-61ED-536C-BF74B2699BDE}"/>
              </a:ext>
            </a:extLst>
          </p:cNvPr>
          <p:cNvSpPr/>
          <p:nvPr/>
        </p:nvSpPr>
        <p:spPr>
          <a:xfrm>
            <a:off x="660400" y="5486400"/>
            <a:ext cx="10871200" cy="660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DC69F3-145C-2E72-9C3A-930400EF3371}"/>
              </a:ext>
            </a:extLst>
          </p:cNvPr>
          <p:cNvSpPr txBox="1"/>
          <p:nvPr/>
        </p:nvSpPr>
        <p:spPr>
          <a:xfrm>
            <a:off x="914400" y="5676900"/>
            <a:ext cx="103632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US" sz="1500">
                <a:solidFill>
                  <a:srgbClr val="222A34"/>
                </a:solidFill>
                <a:latin typeface="Aptos" panose="020B0004020202020204" pitchFamily="34" charset="0"/>
              </a:rPr>
              <a:t>This layout matters because AURA is not only a locator tool; it is also the decision surface where inventory-aware circuit proposals are reviewed before the user retrieves real parts.</a:t>
            </a:r>
            <a:endParaRPr lang="en-IN" sz="15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508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A551F0-D892-AD7F-1941-350BF5C2BA8F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52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037A7-9A2E-F174-26EE-0DFBA437C3A3}"/>
              </a:ext>
            </a:extLst>
          </p:cNvPr>
          <p:cNvSpPr txBox="1"/>
          <p:nvPr/>
        </p:nvSpPr>
        <p:spPr>
          <a:xfrm>
            <a:off x="609600" y="228600"/>
            <a:ext cx="7620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Georgia" panose="02040502050405020303" pitchFamily="18" charset="0"/>
              </a:rPr>
              <a:t>End-to-End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E9AD45-0641-485B-CBBA-14B4163492D1}"/>
              </a:ext>
            </a:extLst>
          </p:cNvPr>
          <p:cNvSpPr txBox="1"/>
          <p:nvPr/>
        </p:nvSpPr>
        <p:spPr>
          <a:xfrm>
            <a:off x="609600" y="1041400"/>
            <a:ext cx="9652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sz="1600">
                <a:solidFill>
                  <a:srgbClr val="65707E"/>
                </a:solidFill>
                <a:latin typeface="Aptos" panose="020B0004020202020204" pitchFamily="34" charset="0"/>
              </a:rPr>
              <a:t>AURA is strongest as an operational sequence rather than a collection of separate modules.</a:t>
            </a:r>
            <a:endParaRPr lang="en-IN" sz="1600">
              <a:solidFill>
                <a:srgbClr val="65707E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93233D-03D9-BBB1-0C99-7082839524CE}"/>
              </a:ext>
            </a:extLst>
          </p:cNvPr>
          <p:cNvSpPr/>
          <p:nvPr/>
        </p:nvSpPr>
        <p:spPr>
          <a:xfrm>
            <a:off x="11201400" y="254000"/>
            <a:ext cx="558800" cy="304800"/>
          </a:xfrm>
          <a:prstGeom prst="roundRect">
            <a:avLst/>
          </a:prstGeom>
          <a:solidFill>
            <a:srgbClr val="D2A046"/>
          </a:solidFill>
          <a:ln w="0">
            <a:solidFill>
              <a:srgbClr val="D2A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296F2E-F358-49D0-F953-010999F6FAB6}"/>
              </a:ext>
            </a:extLst>
          </p:cNvPr>
          <p:cNvSpPr txBox="1"/>
          <p:nvPr/>
        </p:nvSpPr>
        <p:spPr>
          <a:xfrm>
            <a:off x="11303000" y="317500"/>
            <a:ext cx="3556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300" b="1">
                <a:solidFill>
                  <a:srgbClr val="152B47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B6FC87-2461-1625-86EF-28B979E62F98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EAEF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30E661-B271-B5B5-4706-E2DA1A1A5C3A}"/>
              </a:ext>
            </a:extLst>
          </p:cNvPr>
          <p:cNvSpPr txBox="1"/>
          <p:nvPr/>
        </p:nvSpPr>
        <p:spPr>
          <a:xfrm>
            <a:off x="609600" y="6654800"/>
            <a:ext cx="5334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IN" sz="900">
                <a:solidFill>
                  <a:srgbClr val="65707E"/>
                </a:solidFill>
                <a:latin typeface="Aptos" panose="020B0004020202020204" pitchFamily="34" charset="0"/>
              </a:rPr>
              <a:t>AURA | Autonomous User Realization &amp; Assembly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4ECD688-3BB8-C45D-EF4A-191053A910D0}"/>
              </a:ext>
            </a:extLst>
          </p:cNvPr>
          <p:cNvSpPr/>
          <p:nvPr/>
        </p:nvSpPr>
        <p:spPr>
          <a:xfrm>
            <a:off x="711200" y="1930400"/>
            <a:ext cx="1828800" cy="2235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18531B3-E286-0ABF-2D41-AE56DFDAFDC4}"/>
              </a:ext>
            </a:extLst>
          </p:cNvPr>
          <p:cNvSpPr/>
          <p:nvPr/>
        </p:nvSpPr>
        <p:spPr>
          <a:xfrm>
            <a:off x="1371600" y="2133600"/>
            <a:ext cx="508000" cy="508000"/>
          </a:xfrm>
          <a:prstGeom prst="ellipse">
            <a:avLst/>
          </a:prstGeom>
          <a:solidFill>
            <a:srgbClr val="152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F6DF4B-0C74-EAA2-1345-3713D738673E}"/>
              </a:ext>
            </a:extLst>
          </p:cNvPr>
          <p:cNvSpPr txBox="1"/>
          <p:nvPr/>
        </p:nvSpPr>
        <p:spPr>
          <a:xfrm>
            <a:off x="1473200" y="2247900"/>
            <a:ext cx="304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7DB18E-7239-AF3E-62BB-D4E04587ABE5}"/>
              </a:ext>
            </a:extLst>
          </p:cNvPr>
          <p:cNvSpPr txBox="1"/>
          <p:nvPr/>
        </p:nvSpPr>
        <p:spPr>
          <a:xfrm>
            <a:off x="838200" y="2768600"/>
            <a:ext cx="1574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700" b="1">
                <a:solidFill>
                  <a:srgbClr val="222A34"/>
                </a:solidFill>
                <a:latin typeface="Georgia" panose="02040502050405020303" pitchFamily="18" charset="0"/>
              </a:rPr>
              <a:t>User request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F358D6-8929-C874-B3FE-8A0465A359F8}"/>
              </a:ext>
            </a:extLst>
          </p:cNvPr>
          <p:cNvSpPr txBox="1"/>
          <p:nvPr/>
        </p:nvSpPr>
        <p:spPr>
          <a:xfrm>
            <a:off x="838200" y="3200400"/>
            <a:ext cx="1574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US" sz="1300">
                <a:solidFill>
                  <a:srgbClr val="222A34"/>
                </a:solidFill>
                <a:latin typeface="Aptos" panose="020B0004020202020204" pitchFamily="34" charset="0"/>
              </a:rPr>
              <a:t>Search for a part or ask for a circuit goal.</a:t>
            </a:r>
            <a:endParaRPr lang="en-IN" sz="13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829DCE-2E95-225D-2949-C32B0B1198B9}"/>
              </a:ext>
            </a:extLst>
          </p:cNvPr>
          <p:cNvSpPr/>
          <p:nvPr/>
        </p:nvSpPr>
        <p:spPr>
          <a:xfrm>
            <a:off x="2946400" y="1930400"/>
            <a:ext cx="1828800" cy="2235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FCA8A56-63A6-F4FD-2D9C-3E47E0A59D97}"/>
              </a:ext>
            </a:extLst>
          </p:cNvPr>
          <p:cNvSpPr/>
          <p:nvPr/>
        </p:nvSpPr>
        <p:spPr>
          <a:xfrm>
            <a:off x="3606800" y="2133600"/>
            <a:ext cx="508000" cy="508000"/>
          </a:xfrm>
          <a:prstGeom prst="ellipse">
            <a:avLst/>
          </a:prstGeom>
          <a:solidFill>
            <a:srgbClr val="2C706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505CAD-E3A9-33E9-4546-8A6A4E8C11F0}"/>
              </a:ext>
            </a:extLst>
          </p:cNvPr>
          <p:cNvSpPr txBox="1"/>
          <p:nvPr/>
        </p:nvSpPr>
        <p:spPr>
          <a:xfrm>
            <a:off x="3708400" y="2247900"/>
            <a:ext cx="304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F06F6E-AB4C-E22C-5EE5-1ED920EC9BEB}"/>
              </a:ext>
            </a:extLst>
          </p:cNvPr>
          <p:cNvSpPr txBox="1"/>
          <p:nvPr/>
        </p:nvSpPr>
        <p:spPr>
          <a:xfrm>
            <a:off x="3073400" y="2768600"/>
            <a:ext cx="1574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IN" sz="1700" b="1">
                <a:solidFill>
                  <a:srgbClr val="222A34"/>
                </a:solidFill>
                <a:latin typeface="Georgia" panose="02040502050405020303" pitchFamily="18" charset="0"/>
              </a:rPr>
              <a:t>Inventory check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A03417-E067-C479-AAB0-76048C4F84DC}"/>
              </a:ext>
            </a:extLst>
          </p:cNvPr>
          <p:cNvSpPr txBox="1"/>
          <p:nvPr/>
        </p:nvSpPr>
        <p:spPr>
          <a:xfrm>
            <a:off x="3073400" y="3200400"/>
            <a:ext cx="1574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US" sz="1300">
                <a:solidFill>
                  <a:srgbClr val="222A34"/>
                </a:solidFill>
                <a:latin typeface="Aptos" panose="020B0004020202020204" pitchFamily="34" charset="0"/>
              </a:rPr>
              <a:t>Filter by owned values, quantities, and locations.</a:t>
            </a:r>
            <a:endParaRPr lang="en-IN" sz="13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693CE2-BFA3-F733-CAD5-43206C61C899}"/>
              </a:ext>
            </a:extLst>
          </p:cNvPr>
          <p:cNvSpPr/>
          <p:nvPr/>
        </p:nvSpPr>
        <p:spPr>
          <a:xfrm>
            <a:off x="5181600" y="1930400"/>
            <a:ext cx="1828800" cy="2235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9F33387-BFBB-46C0-1057-945B0E0901B2}"/>
              </a:ext>
            </a:extLst>
          </p:cNvPr>
          <p:cNvSpPr/>
          <p:nvPr/>
        </p:nvSpPr>
        <p:spPr>
          <a:xfrm>
            <a:off x="5842000" y="2133600"/>
            <a:ext cx="508000" cy="508000"/>
          </a:xfrm>
          <a:prstGeom prst="ellipse">
            <a:avLst/>
          </a:prstGeom>
          <a:solidFill>
            <a:srgbClr val="D2A0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1FD573-9E46-3DF1-ECE0-166E9BED0FD5}"/>
              </a:ext>
            </a:extLst>
          </p:cNvPr>
          <p:cNvSpPr txBox="1"/>
          <p:nvPr/>
        </p:nvSpPr>
        <p:spPr>
          <a:xfrm>
            <a:off x="5943600" y="2247900"/>
            <a:ext cx="304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1250D9-154D-3FBF-A4AE-C6D428BE04C2}"/>
              </a:ext>
            </a:extLst>
          </p:cNvPr>
          <p:cNvSpPr txBox="1"/>
          <p:nvPr/>
        </p:nvSpPr>
        <p:spPr>
          <a:xfrm>
            <a:off x="5308600" y="2768600"/>
            <a:ext cx="1574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IN" sz="1700" b="1">
                <a:solidFill>
                  <a:srgbClr val="222A34"/>
                </a:solidFill>
                <a:latin typeface="Georgia" panose="02040502050405020303" pitchFamily="18" charset="0"/>
              </a:rPr>
              <a:t>Circuit composition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AB90D0-1A4F-0A86-DD2F-45F77F6B48FF}"/>
              </a:ext>
            </a:extLst>
          </p:cNvPr>
          <p:cNvSpPr txBox="1"/>
          <p:nvPr/>
        </p:nvSpPr>
        <p:spPr>
          <a:xfrm>
            <a:off x="5308600" y="3200400"/>
            <a:ext cx="1574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US" sz="1300">
                <a:solidFill>
                  <a:srgbClr val="222A34"/>
                </a:solidFill>
                <a:latin typeface="Aptos" panose="020B0004020202020204" pitchFamily="34" charset="0"/>
              </a:rPr>
              <a:t>Build a deterministic structured representation.</a:t>
            </a:r>
            <a:endParaRPr lang="en-IN" sz="13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579B1B3-D2A3-5741-3B56-233CC640D132}"/>
              </a:ext>
            </a:extLst>
          </p:cNvPr>
          <p:cNvSpPr/>
          <p:nvPr/>
        </p:nvSpPr>
        <p:spPr>
          <a:xfrm>
            <a:off x="7416800" y="1930400"/>
            <a:ext cx="1828800" cy="2235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CBE95E4-3170-C1F8-2426-BC2B3342FD6A}"/>
              </a:ext>
            </a:extLst>
          </p:cNvPr>
          <p:cNvSpPr/>
          <p:nvPr/>
        </p:nvSpPr>
        <p:spPr>
          <a:xfrm>
            <a:off x="8077200" y="2133600"/>
            <a:ext cx="508000" cy="508000"/>
          </a:xfrm>
          <a:prstGeom prst="ellipse">
            <a:avLst/>
          </a:prstGeom>
          <a:solidFill>
            <a:srgbClr val="152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F856E9-C79C-D7FF-1ADE-80F3126ADDE5}"/>
              </a:ext>
            </a:extLst>
          </p:cNvPr>
          <p:cNvSpPr txBox="1"/>
          <p:nvPr/>
        </p:nvSpPr>
        <p:spPr>
          <a:xfrm>
            <a:off x="8178800" y="2247900"/>
            <a:ext cx="304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109023-4A04-8E31-1382-4C7C765583FD}"/>
              </a:ext>
            </a:extLst>
          </p:cNvPr>
          <p:cNvSpPr txBox="1"/>
          <p:nvPr/>
        </p:nvSpPr>
        <p:spPr>
          <a:xfrm>
            <a:off x="7543800" y="2768600"/>
            <a:ext cx="1574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700" b="1">
                <a:solidFill>
                  <a:srgbClr val="222A34"/>
                </a:solidFill>
                <a:latin typeface="Georgia" panose="02040502050405020303" pitchFamily="18" charset="0"/>
              </a:rPr>
              <a:t>Review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B3E537-9FC7-7417-1A3D-B8A33924543D}"/>
              </a:ext>
            </a:extLst>
          </p:cNvPr>
          <p:cNvSpPr txBox="1"/>
          <p:nvPr/>
        </p:nvSpPr>
        <p:spPr>
          <a:xfrm>
            <a:off x="7543800" y="3200400"/>
            <a:ext cx="1574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US" sz="1300">
                <a:solidFill>
                  <a:srgbClr val="222A34"/>
                </a:solidFill>
                <a:latin typeface="Aptos" panose="020B0004020202020204" pitchFamily="34" charset="0"/>
              </a:rPr>
              <a:t>Inspect and accept the proposal in the workspace.</a:t>
            </a:r>
            <a:endParaRPr lang="en-IN" sz="13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641D937-252F-D443-539E-C02B5E83F35B}"/>
              </a:ext>
            </a:extLst>
          </p:cNvPr>
          <p:cNvSpPr/>
          <p:nvPr/>
        </p:nvSpPr>
        <p:spPr>
          <a:xfrm>
            <a:off x="9652000" y="1930400"/>
            <a:ext cx="1828800" cy="2235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577CD5B-4E92-8611-6C9C-17C9763CC55B}"/>
              </a:ext>
            </a:extLst>
          </p:cNvPr>
          <p:cNvSpPr/>
          <p:nvPr/>
        </p:nvSpPr>
        <p:spPr>
          <a:xfrm>
            <a:off x="10312400" y="2133600"/>
            <a:ext cx="508000" cy="508000"/>
          </a:xfrm>
          <a:prstGeom prst="ellipse">
            <a:avLst/>
          </a:prstGeom>
          <a:solidFill>
            <a:srgbClr val="2C706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6D0097-C8C2-7052-0F0E-9758F957CD24}"/>
              </a:ext>
            </a:extLst>
          </p:cNvPr>
          <p:cNvSpPr txBox="1"/>
          <p:nvPr/>
        </p:nvSpPr>
        <p:spPr>
          <a:xfrm>
            <a:off x="10414000" y="2247900"/>
            <a:ext cx="304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D465E0-37F4-E506-E0CA-81F44DDD23C7}"/>
              </a:ext>
            </a:extLst>
          </p:cNvPr>
          <p:cNvSpPr txBox="1"/>
          <p:nvPr/>
        </p:nvSpPr>
        <p:spPr>
          <a:xfrm>
            <a:off x="9779000" y="2768600"/>
            <a:ext cx="1574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700" b="1">
                <a:solidFill>
                  <a:srgbClr val="222A34"/>
                </a:solidFill>
                <a:latin typeface="Georgia" panose="02040502050405020303" pitchFamily="18" charset="0"/>
              </a:rPr>
              <a:t>Locate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D73A84-402C-003A-29CD-72ECC4FCABA2}"/>
              </a:ext>
            </a:extLst>
          </p:cNvPr>
          <p:cNvSpPr txBox="1"/>
          <p:nvPr/>
        </p:nvSpPr>
        <p:spPr>
          <a:xfrm>
            <a:off x="9779000" y="3200400"/>
            <a:ext cx="1574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en-US" sz="1300">
                <a:solidFill>
                  <a:srgbClr val="222A34"/>
                </a:solidFill>
                <a:latin typeface="Aptos" panose="020B0004020202020204" pitchFamily="34" charset="0"/>
              </a:rPr>
              <a:t>Host activates addressed nodes for required parts.</a:t>
            </a:r>
            <a:endParaRPr lang="en-IN" sz="13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2E052A9-580C-109B-6E3F-A538445EE3F3}"/>
              </a:ext>
            </a:extLst>
          </p:cNvPr>
          <p:cNvCxnSpPr/>
          <p:nvPr/>
        </p:nvCxnSpPr>
        <p:spPr>
          <a:xfrm>
            <a:off x="2540000" y="3048000"/>
            <a:ext cx="406400" cy="0"/>
          </a:xfrm>
          <a:prstGeom prst="line">
            <a:avLst/>
          </a:prstGeom>
          <a:ln w="25400">
            <a:solidFill>
              <a:srgbClr val="D2A0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E972E6F-FAEE-816E-CD49-FA1CF03E7982}"/>
              </a:ext>
            </a:extLst>
          </p:cNvPr>
          <p:cNvCxnSpPr/>
          <p:nvPr/>
        </p:nvCxnSpPr>
        <p:spPr>
          <a:xfrm>
            <a:off x="4775200" y="3048000"/>
            <a:ext cx="406400" cy="0"/>
          </a:xfrm>
          <a:prstGeom prst="line">
            <a:avLst/>
          </a:prstGeom>
          <a:ln w="25400">
            <a:solidFill>
              <a:srgbClr val="D2A0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0136E08-740D-EF13-C416-7877AB4101FC}"/>
              </a:ext>
            </a:extLst>
          </p:cNvPr>
          <p:cNvCxnSpPr/>
          <p:nvPr/>
        </p:nvCxnSpPr>
        <p:spPr>
          <a:xfrm>
            <a:off x="7010400" y="3048000"/>
            <a:ext cx="406400" cy="0"/>
          </a:xfrm>
          <a:prstGeom prst="line">
            <a:avLst/>
          </a:prstGeom>
          <a:ln w="25400">
            <a:solidFill>
              <a:srgbClr val="D2A0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5CB0612-CAB6-88BE-02CD-2403A4DCBCDC}"/>
              </a:ext>
            </a:extLst>
          </p:cNvPr>
          <p:cNvCxnSpPr/>
          <p:nvPr/>
        </p:nvCxnSpPr>
        <p:spPr>
          <a:xfrm>
            <a:off x="9245600" y="3048000"/>
            <a:ext cx="406400" cy="0"/>
          </a:xfrm>
          <a:prstGeom prst="line">
            <a:avLst/>
          </a:prstGeom>
          <a:ln w="25400">
            <a:solidFill>
              <a:srgbClr val="D2A0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DE05C8B-B019-F9C8-A26E-FC1E93EEC2E2}"/>
              </a:ext>
            </a:extLst>
          </p:cNvPr>
          <p:cNvSpPr/>
          <p:nvPr/>
        </p:nvSpPr>
        <p:spPr>
          <a:xfrm>
            <a:off x="2489200" y="4572000"/>
            <a:ext cx="7213600" cy="1498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1267F6C-7E8F-09B1-03B3-ED073350A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531" y="5097356"/>
            <a:ext cx="228939" cy="14308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6DE6F8F-6BA8-7B65-62D8-5A5DEEFF38A3}"/>
              </a:ext>
            </a:extLst>
          </p:cNvPr>
          <p:cNvSpPr txBox="1"/>
          <p:nvPr/>
        </p:nvSpPr>
        <p:spPr>
          <a:xfrm>
            <a:off x="2616200" y="5791200"/>
            <a:ext cx="69596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US" sz="1000">
                <a:solidFill>
                  <a:srgbClr val="65707E"/>
                </a:solidFill>
                <a:latin typeface="Aptos" panose="020B0004020202020204" pitchFamily="34" charset="0"/>
              </a:rPr>
              <a:t>Interface state during authoring and review</a:t>
            </a:r>
            <a:endParaRPr lang="en-IN" sz="1000">
              <a:solidFill>
                <a:srgbClr val="65707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319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5AD804-52B7-906C-E343-EF5F53D8E076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52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E204AF-08F7-8AE5-9644-D31B0D9FCDA7}"/>
              </a:ext>
            </a:extLst>
          </p:cNvPr>
          <p:cNvSpPr txBox="1"/>
          <p:nvPr/>
        </p:nvSpPr>
        <p:spPr>
          <a:xfrm>
            <a:off x="609600" y="228600"/>
            <a:ext cx="7620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Georgia" panose="02040502050405020303" pitchFamily="18" charset="0"/>
              </a:rPr>
              <a:t>Academic Contribution and Practical Benefits</a:t>
            </a:r>
            <a:endParaRPr lang="en-IN" sz="26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81A6C1-23FC-E484-3064-E82486C75332}"/>
              </a:ext>
            </a:extLst>
          </p:cNvPr>
          <p:cNvSpPr txBox="1"/>
          <p:nvPr/>
        </p:nvSpPr>
        <p:spPr>
          <a:xfrm>
            <a:off x="609600" y="1041400"/>
            <a:ext cx="9652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sz="1600">
                <a:solidFill>
                  <a:srgbClr val="65707E"/>
                </a:solidFill>
                <a:latin typeface="Aptos" panose="020B0004020202020204" pitchFamily="34" charset="0"/>
              </a:rPr>
              <a:t>The project contribution is both architectural and user-facing.</a:t>
            </a:r>
            <a:endParaRPr lang="en-IN" sz="1600">
              <a:solidFill>
                <a:srgbClr val="65707E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0211E10-A078-5A51-8087-9074DB238C8A}"/>
              </a:ext>
            </a:extLst>
          </p:cNvPr>
          <p:cNvSpPr/>
          <p:nvPr/>
        </p:nvSpPr>
        <p:spPr>
          <a:xfrm>
            <a:off x="11201400" y="254000"/>
            <a:ext cx="558800" cy="304800"/>
          </a:xfrm>
          <a:prstGeom prst="roundRect">
            <a:avLst/>
          </a:prstGeom>
          <a:solidFill>
            <a:srgbClr val="D2A046"/>
          </a:solidFill>
          <a:ln w="0">
            <a:solidFill>
              <a:srgbClr val="D2A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296591-7ED9-DBA3-A2E4-EE44595EA713}"/>
              </a:ext>
            </a:extLst>
          </p:cNvPr>
          <p:cNvSpPr txBox="1"/>
          <p:nvPr/>
        </p:nvSpPr>
        <p:spPr>
          <a:xfrm>
            <a:off x="11303000" y="317500"/>
            <a:ext cx="3556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300" b="1">
                <a:solidFill>
                  <a:srgbClr val="152B47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2CFBA7-6292-CD66-CD2D-E1D8501F9F9D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EAEF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4543A1-3981-8558-A99D-AFB7E918EDDF}"/>
              </a:ext>
            </a:extLst>
          </p:cNvPr>
          <p:cNvSpPr txBox="1"/>
          <p:nvPr/>
        </p:nvSpPr>
        <p:spPr>
          <a:xfrm>
            <a:off x="609600" y="6654800"/>
            <a:ext cx="5334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IN" sz="900">
                <a:solidFill>
                  <a:srgbClr val="65707E"/>
                </a:solidFill>
                <a:latin typeface="Aptos" panose="020B0004020202020204" pitchFamily="34" charset="0"/>
              </a:rPr>
              <a:t>AURA | Autonomous User Realization &amp; Assembly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B8CA6C-8D46-2C73-B094-93DCFD68F120}"/>
              </a:ext>
            </a:extLst>
          </p:cNvPr>
          <p:cNvSpPr/>
          <p:nvPr/>
        </p:nvSpPr>
        <p:spPr>
          <a:xfrm>
            <a:off x="685800" y="1600200"/>
            <a:ext cx="5232400" cy="3987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B2401-4AD7-ACEE-0248-05E4C69EE9EA}"/>
              </a:ext>
            </a:extLst>
          </p:cNvPr>
          <p:cNvSpPr txBox="1"/>
          <p:nvPr/>
        </p:nvSpPr>
        <p:spPr>
          <a:xfrm>
            <a:off x="965200" y="1879600"/>
            <a:ext cx="46736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IN" sz="2000" b="1">
                <a:solidFill>
                  <a:srgbClr val="222A34"/>
                </a:solidFill>
                <a:latin typeface="Georgia" panose="02040502050405020303" pitchFamily="18" charset="0"/>
              </a:rPr>
              <a:t>Academic contribution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85F0EB-F35F-5FF5-AE7B-2A4FACA25EB6}"/>
              </a:ext>
            </a:extLst>
          </p:cNvPr>
          <p:cNvSpPr txBox="1"/>
          <p:nvPr/>
        </p:nvSpPr>
        <p:spPr>
          <a:xfrm>
            <a:off x="965200" y="2362200"/>
            <a:ext cx="4572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IN" sz="1600">
                <a:solidFill>
                  <a:srgbClr val="222A34"/>
                </a:solidFill>
                <a:latin typeface="Aptos" panose="020B0004020202020204" pitchFamily="34" charset="0"/>
              </a:rPr>
              <a:t>â€¢ A unified cyber-physical architecture for electronics assistance</a:t>
            </a:r>
          </a:p>
          <a:p>
            <a:r>
              <a:rPr lang="en-IN" sz="1600">
                <a:solidFill>
                  <a:srgbClr val="222A34"/>
                </a:solidFill>
                <a:latin typeface="Aptos" panose="020B0004020202020204" pitchFamily="34" charset="0"/>
              </a:rPr>
              <a:t>â€¢ A host-and-node retrieval model linked to inventory-aware circuit planning</a:t>
            </a:r>
          </a:p>
          <a:p>
            <a:r>
              <a:rPr lang="en-IN" sz="1600">
                <a:solidFill>
                  <a:srgbClr val="222A34"/>
                </a:solidFill>
                <a:latin typeface="Aptos" panose="020B0004020202020204" pitchFamily="34" charset="0"/>
              </a:rPr>
              <a:t>â€¢ Deterministic JSON-first circuit representation</a:t>
            </a:r>
          </a:p>
          <a:p>
            <a:r>
              <a:rPr lang="en-IN" sz="1600">
                <a:solidFill>
                  <a:srgbClr val="222A34"/>
                </a:solidFill>
                <a:latin typeface="Aptos" panose="020B0004020202020204" pitchFamily="34" charset="0"/>
              </a:rPr>
              <a:t>â€¢ Structured AI proposals grounded by local logic and inventory context</a:t>
            </a:r>
          </a:p>
          <a:p>
            <a:r>
              <a:rPr lang="en-IN" sz="1600">
                <a:solidFill>
                  <a:srgbClr val="222A34"/>
                </a:solidFill>
                <a:latin typeface="Aptos" panose="020B0004020202020204" pitchFamily="34" charset="0"/>
              </a:rPr>
              <a:t>â€¢ Whole-project component highlighting after design selection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21243F0-C459-11CE-E5E2-1CFF1490744C}"/>
              </a:ext>
            </a:extLst>
          </p:cNvPr>
          <p:cNvSpPr/>
          <p:nvPr/>
        </p:nvSpPr>
        <p:spPr>
          <a:xfrm>
            <a:off x="6248400" y="1600200"/>
            <a:ext cx="5257800" cy="3987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4167F4-B7A8-D1B9-F748-2F190C5CF6BC}"/>
              </a:ext>
            </a:extLst>
          </p:cNvPr>
          <p:cNvSpPr txBox="1"/>
          <p:nvPr/>
        </p:nvSpPr>
        <p:spPr>
          <a:xfrm>
            <a:off x="6527800" y="1879600"/>
            <a:ext cx="4699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IN" sz="2000" b="1">
                <a:solidFill>
                  <a:srgbClr val="222A34"/>
                </a:solidFill>
                <a:latin typeface="Georgia" panose="02040502050405020303" pitchFamily="18" charset="0"/>
              </a:rPr>
              <a:t>Practical benefits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447672-F2C0-29DE-F27D-B7997A0C720B}"/>
              </a:ext>
            </a:extLst>
          </p:cNvPr>
          <p:cNvSpPr txBox="1"/>
          <p:nvPr/>
        </p:nvSpPr>
        <p:spPr>
          <a:xfrm>
            <a:off x="6527800" y="2362200"/>
            <a:ext cx="45974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1600">
                <a:solidFill>
                  <a:srgbClr val="222A34"/>
                </a:solidFill>
                <a:latin typeface="Aptos" panose="020B0004020202020204" pitchFamily="34" charset="0"/>
              </a:rPr>
              <a:t>â€¢ Less time wasted in physical part searching</a:t>
            </a:r>
          </a:p>
          <a:p>
            <a:r>
              <a:rPr lang="en-US" sz="1600">
                <a:solidFill>
                  <a:srgbClr val="222A34"/>
                </a:solidFill>
                <a:latin typeface="Aptos" panose="020B0004020202020204" pitchFamily="34" charset="0"/>
              </a:rPr>
              <a:t>â€¢ Better awareness of available values and quantities</a:t>
            </a:r>
          </a:p>
          <a:p>
            <a:r>
              <a:rPr lang="en-US" sz="1600">
                <a:solidFill>
                  <a:srgbClr val="222A34"/>
                </a:solidFill>
                <a:latin typeface="Aptos" panose="020B0004020202020204" pitchFamily="34" charset="0"/>
              </a:rPr>
              <a:t>â€¢ Faster project preparation when many parts are required</a:t>
            </a:r>
          </a:p>
          <a:p>
            <a:r>
              <a:rPr lang="en-US" sz="1600">
                <a:solidFill>
                  <a:srgbClr val="222A34"/>
                </a:solidFill>
                <a:latin typeface="Aptos" panose="020B0004020202020204" pitchFamily="34" charset="0"/>
              </a:rPr>
              <a:t>â€¢ More trustworthy AI assistance because results remain inspectable</a:t>
            </a:r>
          </a:p>
          <a:p>
            <a:r>
              <a:rPr lang="en-US" sz="1600">
                <a:solidFill>
                  <a:srgbClr val="222A34"/>
                </a:solidFill>
                <a:latin typeface="Aptos" panose="020B0004020202020204" pitchFamily="34" charset="0"/>
              </a:rPr>
              <a:t>â€¢ Better learning support for students building from real inventory</a:t>
            </a:r>
            <a:endParaRPr lang="en-IN" sz="16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242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93BDEA-E0A8-8EC4-B852-ED1E1F7327B5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52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6C2519-4171-752F-ACCB-68343DEA3847}"/>
              </a:ext>
            </a:extLst>
          </p:cNvPr>
          <p:cNvSpPr txBox="1"/>
          <p:nvPr/>
        </p:nvSpPr>
        <p:spPr>
          <a:xfrm>
            <a:off x="609600" y="228600"/>
            <a:ext cx="7620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Georgia" panose="02040502050405020303" pitchFamily="18" charset="0"/>
              </a:rPr>
              <a:t>Prototype Status, Limitations, and Next Work</a:t>
            </a:r>
            <a:endParaRPr lang="en-IN" sz="26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1C12D-D30C-A0C9-17A9-AE9C98D5EC71}"/>
              </a:ext>
            </a:extLst>
          </p:cNvPr>
          <p:cNvSpPr txBox="1"/>
          <p:nvPr/>
        </p:nvSpPr>
        <p:spPr>
          <a:xfrm>
            <a:off x="609600" y="1041400"/>
            <a:ext cx="9652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sz="1600">
                <a:solidFill>
                  <a:srgbClr val="65707E"/>
                </a:solidFill>
                <a:latin typeface="Aptos" panose="020B0004020202020204" pitchFamily="34" charset="0"/>
              </a:rPr>
              <a:t>The system is presented as a complete prototype-level workflow, not a final deployed product.</a:t>
            </a:r>
            <a:endParaRPr lang="en-IN" sz="1600">
              <a:solidFill>
                <a:srgbClr val="65707E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0815D2B-D1E6-5970-8875-2E7F03E66414}"/>
              </a:ext>
            </a:extLst>
          </p:cNvPr>
          <p:cNvSpPr/>
          <p:nvPr/>
        </p:nvSpPr>
        <p:spPr>
          <a:xfrm>
            <a:off x="11201400" y="254000"/>
            <a:ext cx="558800" cy="304800"/>
          </a:xfrm>
          <a:prstGeom prst="roundRect">
            <a:avLst/>
          </a:prstGeom>
          <a:solidFill>
            <a:srgbClr val="D2A046"/>
          </a:solidFill>
          <a:ln w="0">
            <a:solidFill>
              <a:srgbClr val="D2A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EA36BE-96E1-F162-9C4A-90C97567DDA8}"/>
              </a:ext>
            </a:extLst>
          </p:cNvPr>
          <p:cNvSpPr txBox="1"/>
          <p:nvPr/>
        </p:nvSpPr>
        <p:spPr>
          <a:xfrm>
            <a:off x="11303000" y="317500"/>
            <a:ext cx="3556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300" b="1">
                <a:solidFill>
                  <a:srgbClr val="152B47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5F912-2D55-2C43-577C-2FA886BF2B27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EAEF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B8EC9C-2267-3202-225B-2A2AA7F9A2AC}"/>
              </a:ext>
            </a:extLst>
          </p:cNvPr>
          <p:cNvSpPr txBox="1"/>
          <p:nvPr/>
        </p:nvSpPr>
        <p:spPr>
          <a:xfrm>
            <a:off x="609600" y="6654800"/>
            <a:ext cx="5334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IN" sz="900">
                <a:solidFill>
                  <a:srgbClr val="65707E"/>
                </a:solidFill>
                <a:latin typeface="Aptos" panose="020B0004020202020204" pitchFamily="34" charset="0"/>
              </a:rPr>
              <a:t>AURA | Autonomous User Realization &amp; Assembly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0B051BE-AE5B-8359-FFA3-14773DAD9952}"/>
              </a:ext>
            </a:extLst>
          </p:cNvPr>
          <p:cNvSpPr/>
          <p:nvPr/>
        </p:nvSpPr>
        <p:spPr>
          <a:xfrm>
            <a:off x="685800" y="1651000"/>
            <a:ext cx="3454400" cy="3632200"/>
          </a:xfrm>
          <a:prstGeom prst="roundRect">
            <a:avLst/>
          </a:prstGeom>
          <a:solidFill>
            <a:srgbClr val="E1F2F0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AE77E8-691A-E6F8-798F-32742BBE3845}"/>
              </a:ext>
            </a:extLst>
          </p:cNvPr>
          <p:cNvSpPr txBox="1"/>
          <p:nvPr/>
        </p:nvSpPr>
        <p:spPr>
          <a:xfrm>
            <a:off x="965200" y="1930400"/>
            <a:ext cx="28956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IN" sz="1900" b="1">
                <a:solidFill>
                  <a:srgbClr val="222A34"/>
                </a:solidFill>
                <a:latin typeface="Georgia" panose="02040502050405020303" pitchFamily="18" charset="0"/>
              </a:rPr>
              <a:t>What is already demonstrated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CC5746-7ECB-B409-E956-9FB19B25FB48}"/>
              </a:ext>
            </a:extLst>
          </p:cNvPr>
          <p:cNvSpPr txBox="1"/>
          <p:nvPr/>
        </p:nvSpPr>
        <p:spPr>
          <a:xfrm>
            <a:off x="965200" y="2387600"/>
            <a:ext cx="2844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IN" sz="1500">
                <a:solidFill>
                  <a:srgbClr val="222A34"/>
                </a:solidFill>
                <a:latin typeface="Aptos" panose="020B0004020202020204" pitchFamily="34" charset="0"/>
              </a:rPr>
              <a:t>â€¢ Integrated architecture</a:t>
            </a:r>
          </a:p>
          <a:p>
            <a:r>
              <a:rPr lang="en-IN" sz="1500">
                <a:solidFill>
                  <a:srgbClr val="222A34"/>
                </a:solidFill>
                <a:latin typeface="Aptos" panose="020B0004020202020204" pitchFamily="34" charset="0"/>
              </a:rPr>
              <a:t>â€¢ Prototype host and node direction</a:t>
            </a:r>
          </a:p>
          <a:p>
            <a:r>
              <a:rPr lang="en-IN" sz="1500">
                <a:solidFill>
                  <a:srgbClr val="222A34"/>
                </a:solidFill>
                <a:latin typeface="Aptos" panose="020B0004020202020204" pitchFamily="34" charset="0"/>
              </a:rPr>
              <a:t>â€¢ Inventory-aware workflow</a:t>
            </a:r>
          </a:p>
          <a:p>
            <a:r>
              <a:rPr lang="en-IN" sz="1500">
                <a:solidFill>
                  <a:srgbClr val="222A34"/>
                </a:solidFill>
                <a:latin typeface="Aptos" panose="020B0004020202020204" pitchFamily="34" charset="0"/>
              </a:rPr>
              <a:t>â€¢ Deterministic workspace</a:t>
            </a:r>
          </a:p>
          <a:p>
            <a:r>
              <a:rPr lang="en-IN" sz="1500">
                <a:solidFill>
                  <a:srgbClr val="222A34"/>
                </a:solidFill>
                <a:latin typeface="Aptos" panose="020B0004020202020204" pitchFamily="34" charset="0"/>
              </a:rPr>
              <a:t>â€¢ Structured documentation and conference material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664622-A63E-5BB6-D8B7-636C36946163}"/>
              </a:ext>
            </a:extLst>
          </p:cNvPr>
          <p:cNvSpPr/>
          <p:nvPr/>
        </p:nvSpPr>
        <p:spPr>
          <a:xfrm>
            <a:off x="4368800" y="1651000"/>
            <a:ext cx="3454400" cy="3632200"/>
          </a:xfrm>
          <a:prstGeom prst="roundRect">
            <a:avLst/>
          </a:prstGeom>
          <a:solidFill>
            <a:srgbClr val="F5ECD6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F9ABC2-4DBF-8ABF-B4DD-6F8108C5C984}"/>
              </a:ext>
            </a:extLst>
          </p:cNvPr>
          <p:cNvSpPr txBox="1"/>
          <p:nvPr/>
        </p:nvSpPr>
        <p:spPr>
          <a:xfrm>
            <a:off x="4648200" y="1930400"/>
            <a:ext cx="28956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IN" sz="1900" b="1">
                <a:solidFill>
                  <a:srgbClr val="222A34"/>
                </a:solidFill>
                <a:latin typeface="Georgia" panose="02040502050405020303" pitchFamily="18" charset="0"/>
              </a:rPr>
              <a:t>Current limitations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2DD365-46BC-785B-4516-25996945EA3D}"/>
              </a:ext>
            </a:extLst>
          </p:cNvPr>
          <p:cNvSpPr txBox="1"/>
          <p:nvPr/>
        </p:nvSpPr>
        <p:spPr>
          <a:xfrm>
            <a:off x="4648200" y="2387600"/>
            <a:ext cx="2844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1500">
                <a:solidFill>
                  <a:srgbClr val="222A34"/>
                </a:solidFill>
                <a:latin typeface="Aptos" panose="020B0004020202020204" pitchFamily="34" charset="0"/>
              </a:rPr>
              <a:t>â€¢ Prototype packaging is still evolving</a:t>
            </a:r>
          </a:p>
          <a:p>
            <a:r>
              <a:rPr lang="en-US" sz="1500">
                <a:solidFill>
                  <a:srgbClr val="222A34"/>
                </a:solidFill>
                <a:latin typeface="Aptos" panose="020B0004020202020204" pitchFamily="34" charset="0"/>
              </a:rPr>
              <a:t>â€¢ Large-scale deployment is not yet validated</a:t>
            </a:r>
          </a:p>
          <a:p>
            <a:r>
              <a:rPr lang="en-US" sz="1500">
                <a:solidFill>
                  <a:srgbClr val="222A34"/>
                </a:solidFill>
                <a:latin typeface="Aptos" panose="020B0004020202020204" pitchFamily="34" charset="0"/>
              </a:rPr>
              <a:t>â€¢ UI and companion-app polish can improve</a:t>
            </a:r>
          </a:p>
          <a:p>
            <a:r>
              <a:rPr lang="en-US" sz="1500">
                <a:solidFill>
                  <a:srgbClr val="222A34"/>
                </a:solidFill>
                <a:latin typeface="Aptos" panose="020B0004020202020204" pitchFamily="34" charset="0"/>
              </a:rPr>
              <a:t>â€¢ Full electrical simulation is out of scope</a:t>
            </a:r>
          </a:p>
          <a:p>
            <a:r>
              <a:rPr lang="en-US" sz="1500">
                <a:solidFill>
                  <a:srgbClr val="222A34"/>
                </a:solidFill>
                <a:latin typeface="Aptos" panose="020B0004020202020204" pitchFamily="34" charset="0"/>
              </a:rPr>
              <a:t>â€¢ Broader component coverage remains future work</a:t>
            </a:r>
            <a:endParaRPr lang="en-IN" sz="1500">
              <a:solidFill>
                <a:srgbClr val="222A34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3C80C2A-D045-D6A6-61DE-76ABE254A836}"/>
              </a:ext>
            </a:extLst>
          </p:cNvPr>
          <p:cNvSpPr/>
          <p:nvPr/>
        </p:nvSpPr>
        <p:spPr>
          <a:xfrm>
            <a:off x="8051800" y="1651000"/>
            <a:ext cx="3454400" cy="3632200"/>
          </a:xfrm>
          <a:prstGeom prst="roundRect">
            <a:avLst/>
          </a:prstGeom>
          <a:solidFill>
            <a:srgbClr val="E7EEF8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C4FB29-B502-3059-CA31-A2B819BDAA0D}"/>
              </a:ext>
            </a:extLst>
          </p:cNvPr>
          <p:cNvSpPr txBox="1"/>
          <p:nvPr/>
        </p:nvSpPr>
        <p:spPr>
          <a:xfrm>
            <a:off x="8331200" y="1930400"/>
            <a:ext cx="28956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IN" sz="1900" b="1">
                <a:solidFill>
                  <a:srgbClr val="222A34"/>
                </a:solidFill>
                <a:latin typeface="Georgia" panose="02040502050405020303" pitchFamily="18" charset="0"/>
              </a:rPr>
              <a:t>Near-term next steps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1730C0-F48C-4FCB-8B84-6A4BEA28FB45}"/>
              </a:ext>
            </a:extLst>
          </p:cNvPr>
          <p:cNvSpPr txBox="1"/>
          <p:nvPr/>
        </p:nvSpPr>
        <p:spPr>
          <a:xfrm>
            <a:off x="8331200" y="2387600"/>
            <a:ext cx="28448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IN" sz="1500">
                <a:solidFill>
                  <a:srgbClr val="222A34"/>
                </a:solidFill>
                <a:latin typeface="Aptos" panose="020B0004020202020204" pitchFamily="34" charset="0"/>
              </a:rPr>
              <a:t>â€¢ PCB refinement for cleaner hardware realization</a:t>
            </a:r>
          </a:p>
          <a:p>
            <a:r>
              <a:rPr lang="en-IN" sz="1500">
                <a:solidFill>
                  <a:srgbClr val="222A34"/>
                </a:solidFill>
                <a:latin typeface="Aptos" panose="020B0004020202020204" pitchFamily="34" charset="0"/>
              </a:rPr>
              <a:t>â€¢ Companion-app improvement and voice-assisted search</a:t>
            </a:r>
          </a:p>
          <a:p>
            <a:r>
              <a:rPr lang="en-IN" sz="1500">
                <a:solidFill>
                  <a:srgbClr val="222A34"/>
                </a:solidFill>
                <a:latin typeface="Aptos" panose="020B0004020202020204" pitchFamily="34" charset="0"/>
              </a:rPr>
              <a:t>â€¢ Broader multi-node deployment</a:t>
            </a:r>
          </a:p>
          <a:p>
            <a:r>
              <a:rPr lang="en-IN" sz="1500">
                <a:solidFill>
                  <a:srgbClr val="222A34"/>
                </a:solidFill>
                <a:latin typeface="Aptos" panose="020B0004020202020204" pitchFamily="34" charset="0"/>
              </a:rPr>
              <a:t>â€¢ More component ingestion and authoring support</a:t>
            </a:r>
          </a:p>
          <a:p>
            <a:r>
              <a:rPr lang="en-IN" sz="1500">
                <a:solidFill>
                  <a:srgbClr val="222A34"/>
                </a:solidFill>
                <a:latin typeface="Aptos" panose="020B0004020202020204" pitchFamily="34" charset="0"/>
              </a:rPr>
              <a:t>â€¢ Further validation with real use cases</a:t>
            </a:r>
          </a:p>
        </p:txBody>
      </p:sp>
    </p:spTree>
    <p:extLst>
      <p:ext uri="{BB962C8B-B14F-4D97-AF65-F5344CB8AC3E}">
        <p14:creationId xmlns:p14="http://schemas.microsoft.com/office/powerpoint/2010/main" val="2053066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843026-7E68-5783-11EB-9A9FE24C3E3F}"/>
              </a:ext>
            </a:extLst>
          </p:cNvPr>
          <p:cNvSpPr txBox="1"/>
          <p:nvPr/>
        </p:nvSpPr>
        <p:spPr>
          <a:xfrm>
            <a:off x="685800" y="812800"/>
            <a:ext cx="5588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Georgia" panose="02040502050405020303" pitchFamily="18" charset="0"/>
              </a:rPr>
              <a:t>AURA closes the gap between digital design and real-world component retrieval.</a:t>
            </a:r>
            <a:endParaRPr lang="en-IN" sz="30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11D7C-32D3-9E10-1580-F965D03EE24F}"/>
              </a:ext>
            </a:extLst>
          </p:cNvPr>
          <p:cNvSpPr txBox="1"/>
          <p:nvPr/>
        </p:nvSpPr>
        <p:spPr>
          <a:xfrm>
            <a:off x="736600" y="1854200"/>
            <a:ext cx="5334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1900">
                <a:solidFill>
                  <a:srgbClr val="FFFFFF"/>
                </a:solidFill>
                <a:latin typeface="Aptos" panose="020B0004020202020204" pitchFamily="34" charset="0"/>
              </a:rPr>
              <a:t>It is not only a circuit authoring interface and not only a locator network. It is a combined system that helps a user decide, review, and gather the right parts from the inventory they actually own.</a:t>
            </a:r>
            <a:endParaRPr lang="en-IN" sz="19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22BEEC7-0D9E-0D7D-9ED2-F990EBC6C424}"/>
              </a:ext>
            </a:extLst>
          </p:cNvPr>
          <p:cNvSpPr/>
          <p:nvPr/>
        </p:nvSpPr>
        <p:spPr>
          <a:xfrm>
            <a:off x="736600" y="3479800"/>
            <a:ext cx="1752600" cy="355600"/>
          </a:xfrm>
          <a:prstGeom prst="roundRect">
            <a:avLst/>
          </a:prstGeom>
          <a:solidFill>
            <a:srgbClr val="D2A046"/>
          </a:solidFill>
          <a:ln w="0">
            <a:solidFill>
              <a:srgbClr val="D2A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38277-2DA9-D903-CC5B-6E5C988A5BCC}"/>
              </a:ext>
            </a:extLst>
          </p:cNvPr>
          <p:cNvSpPr txBox="1"/>
          <p:nvPr/>
        </p:nvSpPr>
        <p:spPr>
          <a:xfrm>
            <a:off x="838200" y="3543300"/>
            <a:ext cx="15494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300" b="1">
                <a:solidFill>
                  <a:srgbClr val="152B47"/>
                </a:solidFill>
                <a:latin typeface="Aptos" panose="020B0004020202020204" pitchFamily="34" charset="0"/>
              </a:rPr>
              <a:t>Search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0C5B603-5257-4BEF-770A-D3CCAE4AA6A6}"/>
              </a:ext>
            </a:extLst>
          </p:cNvPr>
          <p:cNvSpPr/>
          <p:nvPr/>
        </p:nvSpPr>
        <p:spPr>
          <a:xfrm>
            <a:off x="2667000" y="3479800"/>
            <a:ext cx="1752600" cy="355600"/>
          </a:xfrm>
          <a:prstGeom prst="roundRect">
            <a:avLst/>
          </a:prstGeom>
          <a:solidFill>
            <a:srgbClr val="2C706C"/>
          </a:solidFill>
          <a:ln w="0">
            <a:solidFill>
              <a:srgbClr val="2C70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8265C9-F4FD-6873-82E3-900E187EE3FF}"/>
              </a:ext>
            </a:extLst>
          </p:cNvPr>
          <p:cNvSpPr txBox="1"/>
          <p:nvPr/>
        </p:nvSpPr>
        <p:spPr>
          <a:xfrm>
            <a:off x="2768600" y="3543300"/>
            <a:ext cx="15494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Compose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D65BEA-8D9C-B3A0-0EAF-D6FDA2343379}"/>
              </a:ext>
            </a:extLst>
          </p:cNvPr>
          <p:cNvSpPr/>
          <p:nvPr/>
        </p:nvSpPr>
        <p:spPr>
          <a:xfrm>
            <a:off x="4597400" y="3479800"/>
            <a:ext cx="1752600" cy="355600"/>
          </a:xfrm>
          <a:prstGeom prst="roundRect">
            <a:avLst/>
          </a:prstGeom>
          <a:solidFill>
            <a:srgbClr val="F5ECD6"/>
          </a:solidFill>
          <a:ln w="0">
            <a:solidFill>
              <a:srgbClr val="F5EC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09195-F545-DCC0-61B9-46C8B5A52554}"/>
              </a:ext>
            </a:extLst>
          </p:cNvPr>
          <p:cNvSpPr txBox="1"/>
          <p:nvPr/>
        </p:nvSpPr>
        <p:spPr>
          <a:xfrm>
            <a:off x="4699000" y="3543300"/>
            <a:ext cx="15494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300" b="1">
                <a:solidFill>
                  <a:srgbClr val="152B47"/>
                </a:solidFill>
                <a:latin typeface="Aptos" panose="020B0004020202020204" pitchFamily="34" charset="0"/>
              </a:rPr>
              <a:t>Review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6B0E00-197B-43B8-A188-34FD89436DF4}"/>
              </a:ext>
            </a:extLst>
          </p:cNvPr>
          <p:cNvSpPr/>
          <p:nvPr/>
        </p:nvSpPr>
        <p:spPr>
          <a:xfrm>
            <a:off x="6527800" y="3479800"/>
            <a:ext cx="1752600" cy="355600"/>
          </a:xfrm>
          <a:prstGeom prst="roundRect">
            <a:avLst/>
          </a:prstGeom>
          <a:solidFill>
            <a:srgbClr val="E1F2F0"/>
          </a:solidFill>
          <a:ln w="0">
            <a:solidFill>
              <a:srgbClr val="E1F2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0FCF42-D548-E43B-CFEC-91DDA0585968}"/>
              </a:ext>
            </a:extLst>
          </p:cNvPr>
          <p:cNvSpPr txBox="1"/>
          <p:nvPr/>
        </p:nvSpPr>
        <p:spPr>
          <a:xfrm>
            <a:off x="6629400" y="3543300"/>
            <a:ext cx="15494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300" b="1">
                <a:solidFill>
                  <a:srgbClr val="152B47"/>
                </a:solidFill>
                <a:latin typeface="Aptos" panose="020B0004020202020204" pitchFamily="34" charset="0"/>
              </a:rPr>
              <a:t>Locate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538CDA-04AC-4DAA-E602-DDA0BCB31EA1}"/>
              </a:ext>
            </a:extLst>
          </p:cNvPr>
          <p:cNvSpPr txBox="1"/>
          <p:nvPr/>
        </p:nvSpPr>
        <p:spPr>
          <a:xfrm>
            <a:off x="736600" y="4597400"/>
            <a:ext cx="4064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Georgia" panose="02040502050405020303" pitchFamily="18" charset="0"/>
              </a:rPr>
              <a:t>Thank you</a:t>
            </a:r>
          </a:p>
          <a:p>
            <a:r>
              <a:rPr lang="en-US" sz="2800" b="1">
                <a:solidFill>
                  <a:srgbClr val="FFFFFF"/>
                </a:solidFill>
                <a:latin typeface="Georgia" panose="02040502050405020303" pitchFamily="18" charset="0"/>
              </a:rPr>
              <a:t>Questions and Discussion</a:t>
            </a:r>
            <a:endParaRPr lang="en-IN" sz="28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85B2AE-72E6-7D5C-E2E1-57C45BBDF4AE}"/>
              </a:ext>
            </a:extLst>
          </p:cNvPr>
          <p:cNvSpPr txBox="1"/>
          <p:nvPr/>
        </p:nvSpPr>
        <p:spPr>
          <a:xfrm>
            <a:off x="736600" y="5842000"/>
            <a:ext cx="5334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Santosh Kumar | B.Tech CSE | HMR Institute of Technology and Management</a:t>
            </a:r>
            <a:endParaRPr lang="en-IN" sz="12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AF2655F-C935-9BC1-9F4D-CC6090471B91}"/>
              </a:ext>
            </a:extLst>
          </p:cNvPr>
          <p:cNvSpPr/>
          <p:nvPr/>
        </p:nvSpPr>
        <p:spPr>
          <a:xfrm>
            <a:off x="7620000" y="1016000"/>
            <a:ext cx="3556000" cy="2133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57F6EA-D14B-AD1A-EC40-520557005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738" y="1737737"/>
            <a:ext cx="616523" cy="3853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8432DD0-6580-6C97-7171-D4F69865B176}"/>
              </a:ext>
            </a:extLst>
          </p:cNvPr>
          <p:cNvSpPr txBox="1"/>
          <p:nvPr/>
        </p:nvSpPr>
        <p:spPr>
          <a:xfrm>
            <a:off x="7747000" y="2870200"/>
            <a:ext cx="3302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000">
                <a:solidFill>
                  <a:srgbClr val="65707E"/>
                </a:solidFill>
                <a:latin typeface="Aptos" panose="020B0004020202020204" pitchFamily="34" charset="0"/>
              </a:rPr>
              <a:t>Workspace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C6142B6-3A81-0AA8-26E0-63B7E59E6EFA}"/>
              </a:ext>
            </a:extLst>
          </p:cNvPr>
          <p:cNvSpPr/>
          <p:nvPr/>
        </p:nvSpPr>
        <p:spPr>
          <a:xfrm>
            <a:off x="7620000" y="3403600"/>
            <a:ext cx="2159000" cy="1879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BDC8B72-1A3F-A7B0-7A9E-BB73A2B0AF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540" y="4053840"/>
            <a:ext cx="375920" cy="27432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49369D0-D18C-01E3-F8E1-82FEE5055FA4}"/>
              </a:ext>
            </a:extLst>
          </p:cNvPr>
          <p:cNvSpPr txBox="1"/>
          <p:nvPr/>
        </p:nvSpPr>
        <p:spPr>
          <a:xfrm>
            <a:off x="7747000" y="5003800"/>
            <a:ext cx="1905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000">
                <a:solidFill>
                  <a:srgbClr val="65707E"/>
                </a:solidFill>
                <a:latin typeface="Aptos" panose="020B0004020202020204" pitchFamily="34" charset="0"/>
              </a:rPr>
              <a:t>Host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606686D-D5CC-B961-25F1-FF3577A15265}"/>
              </a:ext>
            </a:extLst>
          </p:cNvPr>
          <p:cNvSpPr/>
          <p:nvPr/>
        </p:nvSpPr>
        <p:spPr>
          <a:xfrm>
            <a:off x="10033000" y="3403600"/>
            <a:ext cx="1143000" cy="1879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B2C8076-F1B5-55EE-56C2-0950894C55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305" y="3954895"/>
            <a:ext cx="344390" cy="47221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6674465-2666-6204-F440-E9835257F678}"/>
              </a:ext>
            </a:extLst>
          </p:cNvPr>
          <p:cNvSpPr txBox="1"/>
          <p:nvPr/>
        </p:nvSpPr>
        <p:spPr>
          <a:xfrm>
            <a:off x="10160000" y="5003800"/>
            <a:ext cx="88900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algn="ctr"/>
            <a:r>
              <a:rPr lang="en-IN" sz="1000">
                <a:solidFill>
                  <a:srgbClr val="65707E"/>
                </a:solidFill>
                <a:latin typeface="Aptos" panose="020B0004020202020204" pitchFamily="34" charset="0"/>
              </a:rPr>
              <a:t>Node</a:t>
            </a:r>
          </a:p>
        </p:txBody>
      </p:sp>
    </p:spTree>
    <p:extLst>
      <p:ext uri="{BB962C8B-B14F-4D97-AF65-F5344CB8AC3E}">
        <p14:creationId xmlns:p14="http://schemas.microsoft.com/office/powerpoint/2010/main" val="3857642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1234</Words>
  <Application>Microsoft Office PowerPoint</Application>
  <PresentationFormat>Custom</PresentationFormat>
  <Paragraphs>166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Santosh Kumar</dc:creator>
  <cp:lastModifiedBy>Santosh Kumar</cp:lastModifiedBy>
  <cp:revision>1</cp:revision>
  <dcterms:created xsi:type="dcterms:W3CDTF">2026-03-12T19:25:08Z</dcterms:created>
  <dcterms:modified xsi:type="dcterms:W3CDTF">2026-03-12T19:25:08Z</dcterms:modified>
</cp:coreProperties>
</file>